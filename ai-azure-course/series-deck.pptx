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The series teaches managing a whole Microsoft Azure subscription by chatting with Claude Code in VS Code — doing the work by conversation rather than clicking through the portal (the portal is still opened to see results). Langate visual style and content. Seven chapters plus a definitions appendix.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 the concept. Claude Code is framed as more than a tool — a co-worker you delegate to and ask for advice, while you stay in control. Manage Azure by conversation, one short task at a time, from nothing installed up to governing every resource. The safety mindset runs through every episode: Read is safe and runs freely; Change is approved after you read the proposed command; Delete is always described and confirmed first (a CLAUDE.md rule enforces this even in bypass mode). The series stays Claude + Microsoft only — Bicep, Microsoft's own infrastructure-as-code language, and its official Azure MCP Server rather than a community one. The portal is not abandoned — it is opened often to see the result of a change.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 Before you start. All a viewer needs is a machine with Visual Studio Code, a Claude Pro subscription (about USD 20 a month, which powers Claude Code), and an Azure subscription. Everything else — the Claude Code CLI, the Azure CLI, sign-in — is installed and configured on screen in Episode 1, which also creates the CLAUDE.md memory file. VS Code runs on Windows and on Mac.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 — the Microsoft surfaces Claude drives. Four first-party command surfaces form the backbone: Azure CLI (az), the everyday workhorse; Azure PowerShell (Az), the same operations in PowerShell; the Azure MCP Server, which gives Claude structured Azure tools instead of raw commands; and Bicep, Microsoft-native infrastructure as code. Each is shown at least once so viewers can pick what suits how they already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4 — the running order. Nineteen episodes in seven groups, each standing on its own. The arc runs setup, explore, change, deploy, automate, host apps, govern. Web apps (App Service), containers (AKS / Container Apps), serverless (Functions), security posture (Defender for Cloud) and governance (Azure Policy) are now Episodes 15-19. Azure AI services is promoted to Episode 5 — the series theme of making things happen in every Azure area from a chat. A cost / clean-up habit runs throughout so nothing is left billing.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5 — threads through every episode. The learning loop is the course spine: set a Goal, let Claude Try, Learn from the error, and save the proven pattern as a Skill — then it repeats. Above all, Claude is treated as a co-worker you delegate to and ask for advice, but whose output you always check and rein in. Six threads recur alongside it: Rely on Claude but verify; Authentication and identity; Review before running; Read versus change; Cost, clean-up and RBAC; and Document every change.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6 — end-to-end testing with Playwright. The rule: rely on Claude, but verify — by hand and automatically. Azure reporting 'Succeeded' only means the resource was created, not that a visitor can open the site and use it. An end-to-end test drives a real browser through the flow. Playwright is Microsoft's own open-source, cross-browser tool, so it fits the Claude + Microsoft only rule. Claude writes and runs the test (npx playwright test, or a draft from codegen), reads any failure and fixes it, and a critical sub-agent reviews the test and code.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7 — topic coverage. The nineteen episodes cover every area a beginner-to-intermediate learner meets: compute, storage and databases, networking, cost, monitoring, identity and access, infrastructure as code and Azure AI services, plus web apps (App Service, Episode 15), containers (AKS / Container Apps, 16), serverless (Azure Functions, 17), security posture (Defender for Cloud, Zero Trust, 18) and governance (Azure Policy, 19). Every area is in the running order and managed the same way, by asking Claude.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 plain-language definitions of the key tools and concepts, assuming no prior Azure knowledge. The full 40-term glossary lives in the Series Plan document's Definitions appendix.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517E"/>
        </a:solidFill>
        <a:effectLst/>
      </p:bgPr>
    </p:bg>
    <p:spTree>
      <p:nvGrpSpPr>
        <p:cNvPr id="1" name=""/>
        <p:cNvGrpSpPr/>
        <p:nvPr/>
      </p:nvGrpSpPr>
      <p:grpSpPr/>
      <p:pic>
        <p:nvPicPr>
          <p:cNvPr id="2" name="Picture 1" descr="cover-bg.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146304"/>
          </a:xfrm>
          <a:prstGeom prst="rect">
            <a:avLst/>
          </a:prstGeom>
          <a:solidFill>
            <a:srgbClr val="02B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47088"/>
            <a:ext cx="10058400" cy="365760"/>
          </a:xfrm>
          <a:prstGeom prst="rect">
            <a:avLst/>
          </a:prstGeom>
          <a:noFill/>
        </p:spPr>
        <p:txBody>
          <a:bodyPr wrap="square" anchor="t" lIns="0" rIns="0" tIns="0" bIns="0">
            <a:spAutoFit/>
          </a:bodyPr>
          <a:lstStyle/>
          <a:p>
            <a:pPr algn="l"/>
            <a:r>
              <a:rPr sz="1300" b="1" i="0" spc="240">
                <a:solidFill>
                  <a:srgbClr val="02B896"/>
                </a:solidFill>
                <a:latin typeface="DM Sans"/>
              </a:rPr>
              <a:t>LANGATE     ·     SERIES PLAN</a:t>
            </a:r>
          </a:p>
        </p:txBody>
      </p:sp>
      <p:sp>
        <p:nvSpPr>
          <p:cNvPr id="5" name="TextBox 4"/>
          <p:cNvSpPr txBox="1"/>
          <p:nvPr/>
        </p:nvSpPr>
        <p:spPr>
          <a:xfrm>
            <a:off x="822960" y="2286000"/>
            <a:ext cx="10698480" cy="1371600"/>
          </a:xfrm>
          <a:prstGeom prst="rect">
            <a:avLst/>
          </a:prstGeom>
          <a:noFill/>
        </p:spPr>
        <p:txBody>
          <a:bodyPr wrap="square" anchor="t" lIns="0" rIns="0" tIns="0" bIns="0">
            <a:spAutoFit/>
          </a:bodyPr>
          <a:lstStyle/>
          <a:p>
            <a:pPr algn="l"/>
            <a:r>
              <a:rPr sz="4600" b="1" i="0">
                <a:solidFill>
                  <a:srgbClr val="FFFFFF"/>
                </a:solidFill>
                <a:latin typeface="DM Sans"/>
              </a:rPr>
              <a:t>Manage Azure with Claude Code</a:t>
            </a:r>
          </a:p>
        </p:txBody>
      </p:sp>
      <p:sp>
        <p:nvSpPr>
          <p:cNvPr id="6" name="Rectangle 5"/>
          <p:cNvSpPr/>
          <p:nvPr/>
        </p:nvSpPr>
        <p:spPr>
          <a:xfrm>
            <a:off x="868680" y="3767328"/>
            <a:ext cx="1645920" cy="54864"/>
          </a:xfrm>
          <a:prstGeom prst="rect">
            <a:avLst/>
          </a:prstGeom>
          <a:solidFill>
            <a:srgbClr val="02B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041648"/>
            <a:ext cx="9509760" cy="914400"/>
          </a:xfrm>
          <a:prstGeom prst="rect">
            <a:avLst/>
          </a:prstGeom>
          <a:noFill/>
        </p:spPr>
        <p:txBody>
          <a:bodyPr wrap="square" anchor="t" lIns="0" rIns="0" tIns="0" bIns="0">
            <a:spAutoFit/>
          </a:bodyPr>
          <a:lstStyle/>
          <a:p>
            <a:pPr algn="l"/>
            <a:r>
              <a:rPr sz="1800" b="0" i="0">
                <a:solidFill>
                  <a:srgbClr val="CFDCE4"/>
                </a:solidFill>
                <a:latin typeface="DM Sans"/>
              </a:rPr>
              <a:t>Managing a whole Azure subscription by chatting — the plan, chapter by chapter</a:t>
            </a:r>
          </a:p>
        </p:txBody>
      </p:sp>
      <p:sp>
        <p:nvSpPr>
          <p:cNvPr id="8" name="TextBox 7"/>
          <p:cNvSpPr txBox="1"/>
          <p:nvPr/>
        </p:nvSpPr>
        <p:spPr>
          <a:xfrm>
            <a:off x="868680" y="5687568"/>
            <a:ext cx="5486400" cy="365760"/>
          </a:xfrm>
          <a:prstGeom prst="rect">
            <a:avLst/>
          </a:prstGeom>
          <a:noFill/>
        </p:spPr>
        <p:txBody>
          <a:bodyPr wrap="square" anchor="t" lIns="0" rIns="0" tIns="0" bIns="0">
            <a:spAutoFit/>
          </a:bodyPr>
          <a:lstStyle/>
          <a:p>
            <a:pPr algn="l"/>
            <a:r>
              <a:rPr sz="1250" b="1" i="0">
                <a:solidFill>
                  <a:srgbClr val="FFFFFF"/>
                </a:solidFill>
                <a:latin typeface="DM Sans"/>
              </a:rPr>
              <a:t>Langate</a:t>
            </a:r>
          </a:p>
        </p:txBody>
      </p:sp>
      <p:pic>
        <p:nvPicPr>
          <p:cNvPr id="9" name="Picture 8" descr="vscode-white.png"/>
          <p:cNvPicPr>
            <a:picLocks noChangeAspect="1"/>
          </p:cNvPicPr>
          <p:nvPr/>
        </p:nvPicPr>
        <p:blipFill>
          <a:blip r:embed="rId3"/>
          <a:stretch>
            <a:fillRect/>
          </a:stretch>
        </p:blipFill>
        <p:spPr>
          <a:xfrm>
            <a:off x="868680" y="6108192"/>
            <a:ext cx="347472" cy="347472"/>
          </a:xfrm>
          <a:prstGeom prst="rect">
            <a:avLst/>
          </a:prstGeom>
        </p:spPr>
      </p:pic>
      <p:pic>
        <p:nvPicPr>
          <p:cNvPr id="10" name="Picture 9" descr="claude-white.png"/>
          <p:cNvPicPr>
            <a:picLocks noChangeAspect="1"/>
          </p:cNvPicPr>
          <p:nvPr/>
        </p:nvPicPr>
        <p:blipFill>
          <a:blip r:embed="rId4"/>
          <a:stretch>
            <a:fillRect/>
          </a:stretch>
        </p:blipFill>
        <p:spPr>
          <a:xfrm>
            <a:off x="1435607" y="6108192"/>
            <a:ext cx="347472" cy="347472"/>
          </a:xfrm>
          <a:prstGeom prst="rect">
            <a:avLst/>
          </a:prstGeom>
        </p:spPr>
      </p:pic>
      <p:pic>
        <p:nvPicPr>
          <p:cNvPr id="11" name="Picture 10" descr="azure-white.png"/>
          <p:cNvPicPr>
            <a:picLocks noChangeAspect="1"/>
          </p:cNvPicPr>
          <p:nvPr/>
        </p:nvPicPr>
        <p:blipFill>
          <a:blip r:embed="rId5"/>
          <a:stretch>
            <a:fillRect/>
          </a:stretch>
        </p:blipFill>
        <p:spPr>
          <a:xfrm>
            <a:off x="2002536" y="6108192"/>
            <a:ext cx="347472" cy="347472"/>
          </a:xfrm>
          <a:prstGeom prst="rect">
            <a:avLst/>
          </a:prstGeom>
        </p:spPr>
      </p:pic>
      <p:pic>
        <p:nvPicPr>
          <p:cNvPr id="12" name="Picture 11" descr="playwright-white.png"/>
          <p:cNvPicPr>
            <a:picLocks noChangeAspect="1"/>
          </p:cNvPicPr>
          <p:nvPr/>
        </p:nvPicPr>
        <p:blipFill>
          <a:blip r:embed="rId6"/>
          <a:stretch>
            <a:fillRect/>
          </a:stretch>
        </p:blipFill>
        <p:spPr>
          <a:xfrm>
            <a:off x="2569464" y="6108192"/>
            <a:ext cx="347472" cy="34747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2B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058400" cy="320040"/>
          </a:xfrm>
          <a:prstGeom prst="rect">
            <a:avLst/>
          </a:prstGeom>
          <a:noFill/>
        </p:spPr>
        <p:txBody>
          <a:bodyPr wrap="square" anchor="t" lIns="0" rIns="0" tIns="0" bIns="0">
            <a:spAutoFit/>
          </a:bodyPr>
          <a:lstStyle/>
          <a:p>
            <a:pPr algn="l"/>
            <a:r>
              <a:rPr sz="1250" b="1" i="0" spc="180">
                <a:solidFill>
                  <a:srgbClr val="02B896"/>
                </a:solidFill>
                <a:latin typeface="DM Sans"/>
              </a:rPr>
              <a:t>CHAPTER 1</a:t>
            </a:r>
          </a:p>
        </p:txBody>
      </p:sp>
      <p:sp>
        <p:nvSpPr>
          <p:cNvPr id="4" name="TextBox 3"/>
          <p:cNvSpPr txBox="1"/>
          <p:nvPr/>
        </p:nvSpPr>
        <p:spPr>
          <a:xfrm>
            <a:off x="822960" y="886968"/>
            <a:ext cx="10698480" cy="868680"/>
          </a:xfrm>
          <a:prstGeom prst="rect">
            <a:avLst/>
          </a:prstGeom>
          <a:noFill/>
        </p:spPr>
        <p:txBody>
          <a:bodyPr wrap="square" anchor="t" lIns="0" rIns="0" tIns="0" bIns="0">
            <a:spAutoFit/>
          </a:bodyPr>
          <a:lstStyle/>
          <a:p>
            <a:pPr algn="l"/>
            <a:r>
              <a:rPr sz="3100" b="1" i="0">
                <a:solidFill>
                  <a:srgbClr val="00517E"/>
                </a:solidFill>
                <a:latin typeface="DM Sans"/>
              </a:rPr>
              <a:t>Manage Azure by chatting with Claude Code</a:t>
            </a:r>
          </a:p>
        </p:txBody>
      </p:sp>
      <p:sp>
        <p:nvSpPr>
          <p:cNvPr id="5" name="TextBox 4"/>
          <p:cNvSpPr txBox="1"/>
          <p:nvPr/>
        </p:nvSpPr>
        <p:spPr>
          <a:xfrm>
            <a:off x="822960" y="6428232"/>
            <a:ext cx="6858000" cy="310896"/>
          </a:xfrm>
          <a:prstGeom prst="rect">
            <a:avLst/>
          </a:prstGeom>
          <a:noFill/>
        </p:spPr>
        <p:txBody>
          <a:bodyPr wrap="square" anchor="t" lIns="0" rIns="0" tIns="0" bIns="0">
            <a:spAutoFit/>
          </a:bodyPr>
          <a:lstStyle/>
          <a:p>
            <a:pPr algn="l"/>
            <a:r>
              <a:rPr sz="1200" b="0" i="0">
                <a:solidFill>
                  <a:srgbClr val="888888"/>
                </a:solidFill>
                <a:latin typeface="DM Sans"/>
              </a:rPr>
              <a:t>Manage Azure with Claude Code</a:t>
            </a:r>
          </a:p>
        </p:txBody>
      </p:sp>
      <p:sp>
        <p:nvSpPr>
          <p:cNvPr id="6" name="TextBox 5"/>
          <p:cNvSpPr txBox="1"/>
          <p:nvPr/>
        </p:nvSpPr>
        <p:spPr>
          <a:xfrm>
            <a:off x="7863840" y="6428232"/>
            <a:ext cx="3502152" cy="310896"/>
          </a:xfrm>
          <a:prstGeom prst="rect">
            <a:avLst/>
          </a:prstGeom>
          <a:noFill/>
        </p:spPr>
        <p:txBody>
          <a:bodyPr wrap="square" anchor="t" lIns="0" rIns="0" tIns="0" bIns="0">
            <a:spAutoFit/>
          </a:bodyPr>
          <a:lstStyle/>
          <a:p>
            <a:pPr algn="r"/>
            <a:r>
              <a:rPr sz="1200" b="1" i="0">
                <a:solidFill>
                  <a:srgbClr val="537780"/>
                </a:solidFill>
                <a:latin typeface="DM Sans"/>
              </a:rPr>
              <a:t>Langate   ·   2</a:t>
            </a:r>
          </a:p>
        </p:txBody>
      </p:sp>
      <p:sp>
        <p:nvSpPr>
          <p:cNvPr id="7" name="TextBox 6"/>
          <p:cNvSpPr txBox="1"/>
          <p:nvPr/>
        </p:nvSpPr>
        <p:spPr>
          <a:xfrm>
            <a:off x="822960" y="1993392"/>
            <a:ext cx="10515600" cy="731520"/>
          </a:xfrm>
          <a:prstGeom prst="rect">
            <a:avLst/>
          </a:prstGeom>
          <a:noFill/>
        </p:spPr>
        <p:txBody>
          <a:bodyPr wrap="square" anchor="t" lIns="0" rIns="0" tIns="0" bIns="0">
            <a:spAutoFit/>
          </a:bodyPr>
          <a:lstStyle/>
          <a:p>
            <a:pPr algn="l">
              <a:spcAft>
                <a:spcPts val="300"/>
              </a:spcAft>
            </a:pPr>
            <a:r>
              <a:rPr sz="1500" b="1" i="0">
                <a:solidFill>
                  <a:srgbClr val="00517E"/>
                </a:solidFill>
                <a:latin typeface="DM Sans"/>
              </a:rPr>
              <a:t>Claude Code is more than a tool — a co-worker you delegate to, and always review.</a:t>
            </a:r>
          </a:p>
          <a:p>
            <a:pPr algn="l"/>
            <a:r>
              <a:rPr sz="1350" b="0" i="0">
                <a:solidFill>
                  <a:srgbClr val="888888"/>
                </a:solidFill>
                <a:latin typeface="DM Sans"/>
              </a:rPr>
              <a:t>Every task is one of three kinds — each carries its own level of care.</a:t>
            </a:r>
          </a:p>
        </p:txBody>
      </p:sp>
      <p:sp>
        <p:nvSpPr>
          <p:cNvPr id="8" name="Rectangle 7"/>
          <p:cNvSpPr/>
          <p:nvPr/>
        </p:nvSpPr>
        <p:spPr>
          <a:xfrm>
            <a:off x="822960" y="2697480"/>
            <a:ext cx="3319272" cy="2331720"/>
          </a:xfrm>
          <a:prstGeom prst="rect">
            <a:avLst/>
          </a:prstGeom>
          <a:solidFill>
            <a:srgbClr val="EB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697480"/>
            <a:ext cx="3319272" cy="100584"/>
          </a:xfrm>
          <a:prstGeom prst="rect">
            <a:avLst/>
          </a:prstGeom>
          <a:solidFill>
            <a:srgbClr val="02B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990088"/>
            <a:ext cx="2807208" cy="457200"/>
          </a:xfrm>
          <a:prstGeom prst="rect">
            <a:avLst/>
          </a:prstGeom>
          <a:noFill/>
        </p:spPr>
        <p:txBody>
          <a:bodyPr wrap="square" anchor="t" lIns="0" rIns="0" tIns="0" bIns="0">
            <a:spAutoFit/>
          </a:bodyPr>
          <a:lstStyle/>
          <a:p>
            <a:pPr algn="l"/>
            <a:r>
              <a:rPr sz="1700" b="1" i="0" spc="60">
                <a:solidFill>
                  <a:srgbClr val="02B896"/>
                </a:solidFill>
                <a:latin typeface="DM Sans"/>
              </a:rPr>
              <a:t>READ</a:t>
            </a:r>
          </a:p>
        </p:txBody>
      </p:sp>
      <p:sp>
        <p:nvSpPr>
          <p:cNvPr id="11" name="TextBox 10"/>
          <p:cNvSpPr txBox="1"/>
          <p:nvPr/>
        </p:nvSpPr>
        <p:spPr>
          <a:xfrm>
            <a:off x="1078992" y="3520440"/>
            <a:ext cx="2807208" cy="1371599"/>
          </a:xfrm>
          <a:prstGeom prst="rect">
            <a:avLst/>
          </a:prstGeom>
          <a:noFill/>
        </p:spPr>
        <p:txBody>
          <a:bodyPr wrap="square" anchor="t" lIns="0" rIns="0" tIns="0" bIns="0">
            <a:spAutoFit/>
          </a:bodyPr>
          <a:lstStyle/>
          <a:p>
            <a:pPr algn="l">
              <a:spcAft>
                <a:spcPts val="400"/>
              </a:spcAft>
            </a:pPr>
            <a:r>
              <a:rPr sz="1300" b="0" i="0">
                <a:solidFill>
                  <a:srgbClr val="4A4A4A"/>
                </a:solidFill>
                <a:latin typeface="DM Sans"/>
              </a:rPr>
              <a:t>Listing, logging,</a:t>
            </a:r>
          </a:p>
          <a:p>
            <a:pPr algn="l">
              <a:spcAft>
                <a:spcPts val="400"/>
              </a:spcAft>
            </a:pPr>
            <a:r>
              <a:rPr sz="1300" b="0" i="0">
                <a:solidFill>
                  <a:srgbClr val="4A4A4A"/>
                </a:solidFill>
                <a:latin typeface="DM Sans"/>
              </a:rPr>
              <a:t>checking costs.</a:t>
            </a:r>
          </a:p>
          <a:p>
            <a:pPr algn="l">
              <a:spcAft>
                <a:spcPts val="400"/>
              </a:spcAft>
            </a:pPr>
            <a:r>
              <a:rPr sz="1300" b="0" i="0">
                <a:solidFill>
                  <a:srgbClr val="4A4A4A"/>
                </a:solidFill>
                <a:latin typeface="DM Sans"/>
              </a:rPr>
              <a:t>Safe — runs freely.</a:t>
            </a:r>
          </a:p>
        </p:txBody>
      </p:sp>
      <p:sp>
        <p:nvSpPr>
          <p:cNvPr id="12" name="Rectangle 11"/>
          <p:cNvSpPr/>
          <p:nvPr/>
        </p:nvSpPr>
        <p:spPr>
          <a:xfrm>
            <a:off x="4416552" y="2697480"/>
            <a:ext cx="3319272" cy="2331720"/>
          </a:xfrm>
          <a:prstGeom prst="rect">
            <a:avLst/>
          </a:prstGeom>
          <a:solidFill>
            <a:srgbClr val="EB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2697480"/>
            <a:ext cx="3319272" cy="100584"/>
          </a:xfrm>
          <a:prstGeom prst="rect">
            <a:avLst/>
          </a:prstGeom>
          <a:solidFill>
            <a:srgbClr val="005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72584" y="2990088"/>
            <a:ext cx="2807208" cy="457200"/>
          </a:xfrm>
          <a:prstGeom prst="rect">
            <a:avLst/>
          </a:prstGeom>
          <a:noFill/>
        </p:spPr>
        <p:txBody>
          <a:bodyPr wrap="square" anchor="t" lIns="0" rIns="0" tIns="0" bIns="0">
            <a:spAutoFit/>
          </a:bodyPr>
          <a:lstStyle/>
          <a:p>
            <a:pPr algn="l"/>
            <a:r>
              <a:rPr sz="1700" b="1" i="0" spc="60">
                <a:solidFill>
                  <a:srgbClr val="00517E"/>
                </a:solidFill>
                <a:latin typeface="DM Sans"/>
              </a:rPr>
              <a:t>CHANGE</a:t>
            </a:r>
          </a:p>
        </p:txBody>
      </p:sp>
      <p:sp>
        <p:nvSpPr>
          <p:cNvPr id="15" name="TextBox 14"/>
          <p:cNvSpPr txBox="1"/>
          <p:nvPr/>
        </p:nvSpPr>
        <p:spPr>
          <a:xfrm>
            <a:off x="4672584" y="3520440"/>
            <a:ext cx="2807208" cy="1371599"/>
          </a:xfrm>
          <a:prstGeom prst="rect">
            <a:avLst/>
          </a:prstGeom>
          <a:noFill/>
        </p:spPr>
        <p:txBody>
          <a:bodyPr wrap="square" anchor="t" lIns="0" rIns="0" tIns="0" bIns="0">
            <a:spAutoFit/>
          </a:bodyPr>
          <a:lstStyle/>
          <a:p>
            <a:pPr algn="l">
              <a:spcAft>
                <a:spcPts val="400"/>
              </a:spcAft>
            </a:pPr>
            <a:r>
              <a:rPr sz="1300" b="0" i="0">
                <a:solidFill>
                  <a:srgbClr val="4A4A4A"/>
                </a:solidFill>
                <a:latin typeface="DM Sans"/>
              </a:rPr>
              <a:t>Create, resize, edit.</a:t>
            </a:r>
          </a:p>
          <a:p>
            <a:pPr algn="l">
              <a:spcAft>
                <a:spcPts val="400"/>
              </a:spcAft>
            </a:pPr>
            <a:r>
              <a:rPr sz="1300" b="0" i="0">
                <a:solidFill>
                  <a:srgbClr val="4A4A4A"/>
                </a:solidFill>
                <a:latin typeface="DM Sans"/>
              </a:rPr>
              <a:t>Approved after you</a:t>
            </a:r>
          </a:p>
          <a:p>
            <a:pPr algn="l">
              <a:spcAft>
                <a:spcPts val="400"/>
              </a:spcAft>
            </a:pPr>
            <a:r>
              <a:rPr sz="1300" b="0" i="0">
                <a:solidFill>
                  <a:srgbClr val="4A4A4A"/>
                </a:solidFill>
                <a:latin typeface="DM Sans"/>
              </a:rPr>
              <a:t>read the command.</a:t>
            </a:r>
          </a:p>
        </p:txBody>
      </p:sp>
      <p:sp>
        <p:nvSpPr>
          <p:cNvPr id="16" name="Rectangle 15"/>
          <p:cNvSpPr/>
          <p:nvPr/>
        </p:nvSpPr>
        <p:spPr>
          <a:xfrm>
            <a:off x="8010144" y="2697480"/>
            <a:ext cx="3319272" cy="2331720"/>
          </a:xfrm>
          <a:prstGeom prst="rect">
            <a:avLst/>
          </a:prstGeom>
          <a:solidFill>
            <a:srgbClr val="EB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0144" y="2697480"/>
            <a:ext cx="3319272" cy="100584"/>
          </a:xfrm>
          <a:prstGeom prst="rect">
            <a:avLst/>
          </a:prstGeom>
          <a:solidFill>
            <a:srgbClr val="B558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6175" y="2990088"/>
            <a:ext cx="2807208" cy="457200"/>
          </a:xfrm>
          <a:prstGeom prst="rect">
            <a:avLst/>
          </a:prstGeom>
          <a:noFill/>
        </p:spPr>
        <p:txBody>
          <a:bodyPr wrap="square" anchor="t" lIns="0" rIns="0" tIns="0" bIns="0">
            <a:spAutoFit/>
          </a:bodyPr>
          <a:lstStyle/>
          <a:p>
            <a:pPr algn="l"/>
            <a:r>
              <a:rPr sz="1700" b="1" i="0" spc="60">
                <a:solidFill>
                  <a:srgbClr val="B55852"/>
                </a:solidFill>
                <a:latin typeface="DM Sans"/>
              </a:rPr>
              <a:t>DELETE</a:t>
            </a:r>
          </a:p>
        </p:txBody>
      </p:sp>
      <p:sp>
        <p:nvSpPr>
          <p:cNvPr id="19" name="TextBox 18"/>
          <p:cNvSpPr txBox="1"/>
          <p:nvPr/>
        </p:nvSpPr>
        <p:spPr>
          <a:xfrm>
            <a:off x="8266175" y="3520440"/>
            <a:ext cx="2807208" cy="1371599"/>
          </a:xfrm>
          <a:prstGeom prst="rect">
            <a:avLst/>
          </a:prstGeom>
          <a:noFill/>
        </p:spPr>
        <p:txBody>
          <a:bodyPr wrap="square" anchor="t" lIns="0" rIns="0" tIns="0" bIns="0">
            <a:spAutoFit/>
          </a:bodyPr>
          <a:lstStyle/>
          <a:p>
            <a:pPr algn="l">
              <a:spcAft>
                <a:spcPts val="400"/>
              </a:spcAft>
            </a:pPr>
            <a:r>
              <a:rPr sz="1300" b="0" i="0">
                <a:solidFill>
                  <a:srgbClr val="4A4A4A"/>
                </a:solidFill>
                <a:latin typeface="DM Sans"/>
              </a:rPr>
              <a:t>Remove a resource.</a:t>
            </a:r>
          </a:p>
          <a:p>
            <a:pPr algn="l">
              <a:spcAft>
                <a:spcPts val="400"/>
              </a:spcAft>
            </a:pPr>
            <a:r>
              <a:rPr sz="1300" b="0" i="0">
                <a:solidFill>
                  <a:srgbClr val="4A4A4A"/>
                </a:solidFill>
                <a:latin typeface="DM Sans"/>
              </a:rPr>
              <a:t>Described and</a:t>
            </a:r>
          </a:p>
          <a:p>
            <a:pPr algn="l">
              <a:spcAft>
                <a:spcPts val="400"/>
              </a:spcAft>
            </a:pPr>
            <a:r>
              <a:rPr sz="1300" b="0" i="0">
                <a:solidFill>
                  <a:srgbClr val="4A4A4A"/>
                </a:solidFill>
                <a:latin typeface="DM Sans"/>
              </a:rPr>
              <a:t>confirmed first.</a:t>
            </a:r>
          </a:p>
        </p:txBody>
      </p:sp>
      <p:sp>
        <p:nvSpPr>
          <p:cNvPr id="20" name="Rounded Rectangle 19"/>
          <p:cNvSpPr/>
          <p:nvPr/>
        </p:nvSpPr>
        <p:spPr>
          <a:xfrm>
            <a:off x="822960" y="5285232"/>
            <a:ext cx="10506456" cy="713232"/>
          </a:xfrm>
          <a:prstGeom prst="roundRect">
            <a:avLst>
              <a:gd name="adj" fmla="val 12000"/>
            </a:avLst>
          </a:prstGeom>
          <a:solidFill>
            <a:srgbClr val="E6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43000" y="5285232"/>
            <a:ext cx="9866376" cy="713232"/>
          </a:xfrm>
          <a:prstGeom prst="rect">
            <a:avLst/>
          </a:prstGeom>
          <a:noFill/>
        </p:spPr>
        <p:txBody>
          <a:bodyPr wrap="square" anchor="ctr" lIns="0" rIns="0" tIns="0" bIns="0">
            <a:spAutoFit/>
          </a:bodyPr>
          <a:lstStyle/>
          <a:p>
            <a:pPr algn="l">
              <a:spcAft>
                <a:spcPts val="300"/>
              </a:spcAft>
            </a:pPr>
            <a:r>
              <a:rPr sz="1300" b="1" i="0">
                <a:solidFill>
                  <a:srgbClr val="00517E"/>
                </a:solidFill>
                <a:latin typeface="DM Sans"/>
              </a:rPr>
              <a:t>Claude + Microsoft only — Bicep for infrastructure as code · the portal is still where you see results.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2B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058400" cy="320040"/>
          </a:xfrm>
          <a:prstGeom prst="rect">
            <a:avLst/>
          </a:prstGeom>
          <a:noFill/>
        </p:spPr>
        <p:txBody>
          <a:bodyPr wrap="square" anchor="t" lIns="0" rIns="0" tIns="0" bIns="0">
            <a:spAutoFit/>
          </a:bodyPr>
          <a:lstStyle/>
          <a:p>
            <a:pPr algn="l"/>
            <a:r>
              <a:rPr sz="1250" b="1" i="0" spc="180">
                <a:solidFill>
                  <a:srgbClr val="02B896"/>
                </a:solidFill>
                <a:latin typeface="DM Sans"/>
              </a:rPr>
              <a:t>CHAPTER 2</a:t>
            </a:r>
          </a:p>
        </p:txBody>
      </p:sp>
      <p:sp>
        <p:nvSpPr>
          <p:cNvPr id="4" name="TextBox 3"/>
          <p:cNvSpPr txBox="1"/>
          <p:nvPr/>
        </p:nvSpPr>
        <p:spPr>
          <a:xfrm>
            <a:off x="822960" y="886968"/>
            <a:ext cx="10698480" cy="868680"/>
          </a:xfrm>
          <a:prstGeom prst="rect">
            <a:avLst/>
          </a:prstGeom>
          <a:noFill/>
        </p:spPr>
        <p:txBody>
          <a:bodyPr wrap="square" anchor="t" lIns="0" rIns="0" tIns="0" bIns="0">
            <a:spAutoFit/>
          </a:bodyPr>
          <a:lstStyle/>
          <a:p>
            <a:pPr algn="l"/>
            <a:r>
              <a:rPr sz="3100" b="1" i="0">
                <a:solidFill>
                  <a:srgbClr val="00517E"/>
                </a:solidFill>
                <a:latin typeface="DM Sans"/>
              </a:rPr>
              <a:t>Before you start</a:t>
            </a:r>
          </a:p>
        </p:txBody>
      </p:sp>
      <p:sp>
        <p:nvSpPr>
          <p:cNvPr id="5" name="TextBox 4"/>
          <p:cNvSpPr txBox="1"/>
          <p:nvPr/>
        </p:nvSpPr>
        <p:spPr>
          <a:xfrm>
            <a:off x="822960" y="6428232"/>
            <a:ext cx="6858000" cy="310896"/>
          </a:xfrm>
          <a:prstGeom prst="rect">
            <a:avLst/>
          </a:prstGeom>
          <a:noFill/>
        </p:spPr>
        <p:txBody>
          <a:bodyPr wrap="square" anchor="t" lIns="0" rIns="0" tIns="0" bIns="0">
            <a:spAutoFit/>
          </a:bodyPr>
          <a:lstStyle/>
          <a:p>
            <a:pPr algn="l"/>
            <a:r>
              <a:rPr sz="1200" b="0" i="0">
                <a:solidFill>
                  <a:srgbClr val="888888"/>
                </a:solidFill>
                <a:latin typeface="DM Sans"/>
              </a:rPr>
              <a:t>Manage Azure with Claude Code</a:t>
            </a:r>
          </a:p>
        </p:txBody>
      </p:sp>
      <p:sp>
        <p:nvSpPr>
          <p:cNvPr id="6" name="TextBox 5"/>
          <p:cNvSpPr txBox="1"/>
          <p:nvPr/>
        </p:nvSpPr>
        <p:spPr>
          <a:xfrm>
            <a:off x="7863840" y="6428232"/>
            <a:ext cx="3502152" cy="310896"/>
          </a:xfrm>
          <a:prstGeom prst="rect">
            <a:avLst/>
          </a:prstGeom>
          <a:noFill/>
        </p:spPr>
        <p:txBody>
          <a:bodyPr wrap="square" anchor="t" lIns="0" rIns="0" tIns="0" bIns="0">
            <a:spAutoFit/>
          </a:bodyPr>
          <a:lstStyle/>
          <a:p>
            <a:pPr algn="r"/>
            <a:r>
              <a:rPr sz="1200" b="1" i="0">
                <a:solidFill>
                  <a:srgbClr val="537780"/>
                </a:solidFill>
                <a:latin typeface="DM Sans"/>
              </a:rPr>
              <a:t>Langate   ·   3</a:t>
            </a:r>
          </a:p>
        </p:txBody>
      </p:sp>
      <p:sp>
        <p:nvSpPr>
          <p:cNvPr id="7" name="TextBox 6"/>
          <p:cNvSpPr txBox="1"/>
          <p:nvPr/>
        </p:nvSpPr>
        <p:spPr>
          <a:xfrm>
            <a:off x="822960" y="2084831"/>
            <a:ext cx="10515600" cy="457200"/>
          </a:xfrm>
          <a:prstGeom prst="rect">
            <a:avLst/>
          </a:prstGeom>
          <a:noFill/>
        </p:spPr>
        <p:txBody>
          <a:bodyPr wrap="square" anchor="t" lIns="0" rIns="0" tIns="0" bIns="0">
            <a:spAutoFit/>
          </a:bodyPr>
          <a:lstStyle/>
          <a:p>
            <a:pPr algn="l"/>
            <a:r>
              <a:rPr sz="1500" b="0" i="0">
                <a:solidFill>
                  <a:srgbClr val="888888"/>
                </a:solidFill>
                <a:latin typeface="DM Sans"/>
              </a:rPr>
              <a:t>All you need before Episode 1 — just three things:</a:t>
            </a:r>
          </a:p>
        </p:txBody>
      </p:sp>
      <p:sp>
        <p:nvSpPr>
          <p:cNvPr id="8" name="Rectangle 7"/>
          <p:cNvSpPr/>
          <p:nvPr/>
        </p:nvSpPr>
        <p:spPr>
          <a:xfrm>
            <a:off x="822960" y="2697480"/>
            <a:ext cx="3319272" cy="2240280"/>
          </a:xfrm>
          <a:prstGeom prst="rect">
            <a:avLst/>
          </a:prstGeom>
          <a:solidFill>
            <a:srgbClr val="EB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697480"/>
            <a:ext cx="3319272" cy="118872"/>
          </a:xfrm>
          <a:prstGeom prst="rect">
            <a:avLst/>
          </a:prstGeom>
          <a:solidFill>
            <a:srgbClr val="02B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vscode-blue.png"/>
          <p:cNvPicPr>
            <a:picLocks noChangeAspect="1"/>
          </p:cNvPicPr>
          <p:nvPr/>
        </p:nvPicPr>
        <p:blipFill>
          <a:blip r:embed="rId2"/>
          <a:stretch>
            <a:fillRect/>
          </a:stretch>
        </p:blipFill>
        <p:spPr>
          <a:xfrm>
            <a:off x="1979676" y="3017520"/>
            <a:ext cx="1005840" cy="1005840"/>
          </a:xfrm>
          <a:prstGeom prst="rect">
            <a:avLst/>
          </a:prstGeom>
        </p:spPr>
      </p:pic>
      <p:sp>
        <p:nvSpPr>
          <p:cNvPr id="11" name="TextBox 10"/>
          <p:cNvSpPr txBox="1"/>
          <p:nvPr/>
        </p:nvSpPr>
        <p:spPr>
          <a:xfrm>
            <a:off x="1097280" y="4160520"/>
            <a:ext cx="2770632" cy="777240"/>
          </a:xfrm>
          <a:prstGeom prst="rect">
            <a:avLst/>
          </a:prstGeom>
          <a:noFill/>
        </p:spPr>
        <p:txBody>
          <a:bodyPr wrap="square" anchor="t" lIns="0" rIns="0" tIns="0" bIns="0">
            <a:spAutoFit/>
          </a:bodyPr>
          <a:lstStyle/>
          <a:p>
            <a:pPr algn="ctr">
              <a:spcAft>
                <a:spcPts val="300"/>
              </a:spcAft>
            </a:pPr>
            <a:r>
              <a:rPr sz="1500" b="1" i="0">
                <a:solidFill>
                  <a:srgbClr val="00517E"/>
                </a:solidFill>
                <a:latin typeface="DM Sans"/>
              </a:rPr>
              <a:t>A machine with VS Code</a:t>
            </a:r>
          </a:p>
          <a:p>
            <a:pPr algn="ctr"/>
            <a:r>
              <a:rPr sz="1150" b="0" i="0">
                <a:solidFill>
                  <a:srgbClr val="888888"/>
                </a:solidFill>
                <a:latin typeface="DM Sans"/>
              </a:rPr>
              <a:t>Windows or Mac</a:t>
            </a:r>
          </a:p>
        </p:txBody>
      </p:sp>
      <p:sp>
        <p:nvSpPr>
          <p:cNvPr id="12" name="Rectangle 11"/>
          <p:cNvSpPr/>
          <p:nvPr/>
        </p:nvSpPr>
        <p:spPr>
          <a:xfrm>
            <a:off x="4416552" y="2697480"/>
            <a:ext cx="3319272" cy="2240280"/>
          </a:xfrm>
          <a:prstGeom prst="rect">
            <a:avLst/>
          </a:prstGeom>
          <a:solidFill>
            <a:srgbClr val="EB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2697480"/>
            <a:ext cx="3319272" cy="118872"/>
          </a:xfrm>
          <a:prstGeom prst="rect">
            <a:avLst/>
          </a:prstGeom>
          <a:solidFill>
            <a:srgbClr val="02B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laude-blue.png"/>
          <p:cNvPicPr>
            <a:picLocks noChangeAspect="1"/>
          </p:cNvPicPr>
          <p:nvPr/>
        </p:nvPicPr>
        <p:blipFill>
          <a:blip r:embed="rId3"/>
          <a:stretch>
            <a:fillRect/>
          </a:stretch>
        </p:blipFill>
        <p:spPr>
          <a:xfrm>
            <a:off x="5573268" y="3017520"/>
            <a:ext cx="1005840" cy="1005840"/>
          </a:xfrm>
          <a:prstGeom prst="rect">
            <a:avLst/>
          </a:prstGeom>
        </p:spPr>
      </p:pic>
      <p:sp>
        <p:nvSpPr>
          <p:cNvPr id="15" name="TextBox 14"/>
          <p:cNvSpPr txBox="1"/>
          <p:nvPr/>
        </p:nvSpPr>
        <p:spPr>
          <a:xfrm>
            <a:off x="4690872" y="4160520"/>
            <a:ext cx="2770632" cy="777240"/>
          </a:xfrm>
          <a:prstGeom prst="rect">
            <a:avLst/>
          </a:prstGeom>
          <a:noFill/>
        </p:spPr>
        <p:txBody>
          <a:bodyPr wrap="square" anchor="t" lIns="0" rIns="0" tIns="0" bIns="0">
            <a:spAutoFit/>
          </a:bodyPr>
          <a:lstStyle/>
          <a:p>
            <a:pPr algn="ctr">
              <a:spcAft>
                <a:spcPts val="300"/>
              </a:spcAft>
            </a:pPr>
            <a:r>
              <a:rPr sz="1500" b="1" i="0">
                <a:solidFill>
                  <a:srgbClr val="00517E"/>
                </a:solidFill>
                <a:latin typeface="DM Sans"/>
              </a:rPr>
              <a:t>A Claude Pro subscription</a:t>
            </a:r>
          </a:p>
          <a:p>
            <a:pPr algn="ctr"/>
            <a:r>
              <a:rPr sz="1150" b="0" i="0">
                <a:solidFill>
                  <a:srgbClr val="888888"/>
                </a:solidFill>
                <a:latin typeface="DM Sans"/>
              </a:rPr>
              <a:t>about USD 20 / month</a:t>
            </a:r>
          </a:p>
        </p:txBody>
      </p:sp>
      <p:sp>
        <p:nvSpPr>
          <p:cNvPr id="16" name="Rectangle 15"/>
          <p:cNvSpPr/>
          <p:nvPr/>
        </p:nvSpPr>
        <p:spPr>
          <a:xfrm>
            <a:off x="8010144" y="2697480"/>
            <a:ext cx="3319272" cy="2240280"/>
          </a:xfrm>
          <a:prstGeom prst="rect">
            <a:avLst/>
          </a:prstGeom>
          <a:solidFill>
            <a:srgbClr val="EB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0144" y="2697480"/>
            <a:ext cx="3319272" cy="118872"/>
          </a:xfrm>
          <a:prstGeom prst="rect">
            <a:avLst/>
          </a:prstGeom>
          <a:solidFill>
            <a:srgbClr val="02B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zure-blue.png"/>
          <p:cNvPicPr>
            <a:picLocks noChangeAspect="1"/>
          </p:cNvPicPr>
          <p:nvPr/>
        </p:nvPicPr>
        <p:blipFill>
          <a:blip r:embed="rId4"/>
          <a:stretch>
            <a:fillRect/>
          </a:stretch>
        </p:blipFill>
        <p:spPr>
          <a:xfrm>
            <a:off x="9166859" y="3017520"/>
            <a:ext cx="1005840" cy="1005840"/>
          </a:xfrm>
          <a:prstGeom prst="rect">
            <a:avLst/>
          </a:prstGeom>
        </p:spPr>
      </p:pic>
      <p:sp>
        <p:nvSpPr>
          <p:cNvPr id="19" name="TextBox 18"/>
          <p:cNvSpPr txBox="1"/>
          <p:nvPr/>
        </p:nvSpPr>
        <p:spPr>
          <a:xfrm>
            <a:off x="8284464" y="4160520"/>
            <a:ext cx="2770632" cy="777240"/>
          </a:xfrm>
          <a:prstGeom prst="rect">
            <a:avLst/>
          </a:prstGeom>
          <a:noFill/>
        </p:spPr>
        <p:txBody>
          <a:bodyPr wrap="square" anchor="t" lIns="0" rIns="0" tIns="0" bIns="0">
            <a:spAutoFit/>
          </a:bodyPr>
          <a:lstStyle/>
          <a:p>
            <a:pPr algn="ctr">
              <a:spcAft>
                <a:spcPts val="300"/>
              </a:spcAft>
            </a:pPr>
            <a:r>
              <a:rPr sz="1500" b="1" i="0">
                <a:solidFill>
                  <a:srgbClr val="00517E"/>
                </a:solidFill>
                <a:latin typeface="DM Sans"/>
              </a:rPr>
              <a:t>An Azure subscription</a:t>
            </a:r>
          </a:p>
          <a:p>
            <a:pPr algn="ctr"/>
            <a:r>
              <a:rPr sz="1150" b="0" i="0">
                <a:solidFill>
                  <a:srgbClr val="888888"/>
                </a:solidFill>
                <a:latin typeface="DM Sans"/>
              </a:rPr>
              <a:t>any you can sign into</a:t>
            </a:r>
          </a:p>
        </p:txBody>
      </p:sp>
      <p:sp>
        <p:nvSpPr>
          <p:cNvPr id="20" name="Rounded Rectangle 19"/>
          <p:cNvSpPr/>
          <p:nvPr/>
        </p:nvSpPr>
        <p:spPr>
          <a:xfrm>
            <a:off x="822960" y="5230368"/>
            <a:ext cx="10506456" cy="768096"/>
          </a:xfrm>
          <a:prstGeom prst="roundRect">
            <a:avLst>
              <a:gd name="adj" fmla="val 12000"/>
            </a:avLst>
          </a:prstGeom>
          <a:solidFill>
            <a:srgbClr val="E6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43000" y="5230368"/>
            <a:ext cx="9866376" cy="768096"/>
          </a:xfrm>
          <a:prstGeom prst="rect">
            <a:avLst/>
          </a:prstGeom>
          <a:noFill/>
        </p:spPr>
        <p:txBody>
          <a:bodyPr wrap="square" anchor="ctr" lIns="0" rIns="0" tIns="0" bIns="0">
            <a:spAutoFit/>
          </a:bodyPr>
          <a:lstStyle/>
          <a:p>
            <a:pPr algn="l">
              <a:spcAft>
                <a:spcPts val="300"/>
              </a:spcAft>
            </a:pPr>
            <a:r>
              <a:rPr sz="1300" b="0" i="0">
                <a:solidFill>
                  <a:srgbClr val="4A4A4A"/>
                </a:solidFill>
                <a:latin typeface="DM Sans"/>
              </a:rPr>
              <a:t>Everything else — the Claude Code CLI, the Azure CLI, sign-in, the CLAUDE.md memory file —</a:t>
            </a:r>
          </a:p>
          <a:p>
            <a:pPr algn="l">
              <a:spcAft>
                <a:spcPts val="300"/>
              </a:spcAft>
            </a:pPr>
            <a:r>
              <a:rPr sz="1300" b="1" i="0">
                <a:solidFill>
                  <a:srgbClr val="00517E"/>
                </a:solidFill>
                <a:latin typeface="DM Sans"/>
              </a:rPr>
              <a:t>is installed and configured on screen in Episode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2B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058400" cy="320040"/>
          </a:xfrm>
          <a:prstGeom prst="rect">
            <a:avLst/>
          </a:prstGeom>
          <a:noFill/>
        </p:spPr>
        <p:txBody>
          <a:bodyPr wrap="square" anchor="t" lIns="0" rIns="0" tIns="0" bIns="0">
            <a:spAutoFit/>
          </a:bodyPr>
          <a:lstStyle/>
          <a:p>
            <a:pPr algn="l"/>
            <a:r>
              <a:rPr sz="1250" b="1" i="0" spc="180">
                <a:solidFill>
                  <a:srgbClr val="02B896"/>
                </a:solidFill>
                <a:latin typeface="DM Sans"/>
              </a:rPr>
              <a:t>CHAPTER 3</a:t>
            </a:r>
          </a:p>
        </p:txBody>
      </p:sp>
      <p:sp>
        <p:nvSpPr>
          <p:cNvPr id="4" name="TextBox 3"/>
          <p:cNvSpPr txBox="1"/>
          <p:nvPr/>
        </p:nvSpPr>
        <p:spPr>
          <a:xfrm>
            <a:off x="822960" y="886968"/>
            <a:ext cx="10698480" cy="868680"/>
          </a:xfrm>
          <a:prstGeom prst="rect">
            <a:avLst/>
          </a:prstGeom>
          <a:noFill/>
        </p:spPr>
        <p:txBody>
          <a:bodyPr wrap="square" anchor="t" lIns="0" rIns="0" tIns="0" bIns="0">
            <a:spAutoFit/>
          </a:bodyPr>
          <a:lstStyle/>
          <a:p>
            <a:pPr algn="l"/>
            <a:r>
              <a:rPr sz="3100" b="1" i="0">
                <a:solidFill>
                  <a:srgbClr val="00517E"/>
                </a:solidFill>
                <a:latin typeface="DM Sans"/>
              </a:rPr>
              <a:t>The Microsoft surfaces Claude drives</a:t>
            </a:r>
          </a:p>
        </p:txBody>
      </p:sp>
      <p:sp>
        <p:nvSpPr>
          <p:cNvPr id="5" name="TextBox 4"/>
          <p:cNvSpPr txBox="1"/>
          <p:nvPr/>
        </p:nvSpPr>
        <p:spPr>
          <a:xfrm>
            <a:off x="822960" y="6428232"/>
            <a:ext cx="6858000" cy="310896"/>
          </a:xfrm>
          <a:prstGeom prst="rect">
            <a:avLst/>
          </a:prstGeom>
          <a:noFill/>
        </p:spPr>
        <p:txBody>
          <a:bodyPr wrap="square" anchor="t" lIns="0" rIns="0" tIns="0" bIns="0">
            <a:spAutoFit/>
          </a:bodyPr>
          <a:lstStyle/>
          <a:p>
            <a:pPr algn="l"/>
            <a:r>
              <a:rPr sz="1200" b="0" i="0">
                <a:solidFill>
                  <a:srgbClr val="888888"/>
                </a:solidFill>
                <a:latin typeface="DM Sans"/>
              </a:rPr>
              <a:t>Manage Azure with Claude Code</a:t>
            </a:r>
          </a:p>
        </p:txBody>
      </p:sp>
      <p:sp>
        <p:nvSpPr>
          <p:cNvPr id="6" name="TextBox 5"/>
          <p:cNvSpPr txBox="1"/>
          <p:nvPr/>
        </p:nvSpPr>
        <p:spPr>
          <a:xfrm>
            <a:off x="7863840" y="6428232"/>
            <a:ext cx="3502152" cy="310896"/>
          </a:xfrm>
          <a:prstGeom prst="rect">
            <a:avLst/>
          </a:prstGeom>
          <a:noFill/>
        </p:spPr>
        <p:txBody>
          <a:bodyPr wrap="square" anchor="t" lIns="0" rIns="0" tIns="0" bIns="0">
            <a:spAutoFit/>
          </a:bodyPr>
          <a:lstStyle/>
          <a:p>
            <a:pPr algn="r"/>
            <a:r>
              <a:rPr sz="1200" b="1" i="0">
                <a:solidFill>
                  <a:srgbClr val="537780"/>
                </a:solidFill>
                <a:latin typeface="DM Sans"/>
              </a:rPr>
              <a:t>Langate   ·   4</a:t>
            </a:r>
          </a:p>
        </p:txBody>
      </p:sp>
      <p:sp>
        <p:nvSpPr>
          <p:cNvPr id="7" name="TextBox 6"/>
          <p:cNvSpPr txBox="1"/>
          <p:nvPr/>
        </p:nvSpPr>
        <p:spPr>
          <a:xfrm>
            <a:off x="822960" y="2084831"/>
            <a:ext cx="10515600" cy="457200"/>
          </a:xfrm>
          <a:prstGeom prst="rect">
            <a:avLst/>
          </a:prstGeom>
          <a:noFill/>
        </p:spPr>
        <p:txBody>
          <a:bodyPr wrap="square" anchor="t" lIns="0" rIns="0" tIns="0" bIns="0">
            <a:spAutoFit/>
          </a:bodyPr>
          <a:lstStyle/>
          <a:p>
            <a:pPr algn="l"/>
            <a:r>
              <a:rPr sz="1500" b="0" i="0">
                <a:solidFill>
                  <a:srgbClr val="888888"/>
                </a:solidFill>
                <a:latin typeface="DM Sans"/>
              </a:rPr>
              <a:t>Four first-party command surfaces — each shown at least once.</a:t>
            </a:r>
          </a:p>
        </p:txBody>
      </p:sp>
      <p:sp>
        <p:nvSpPr>
          <p:cNvPr id="8" name="Rectangle 7"/>
          <p:cNvSpPr/>
          <p:nvPr/>
        </p:nvSpPr>
        <p:spPr>
          <a:xfrm>
            <a:off x="822960" y="2651760"/>
            <a:ext cx="5120640" cy="1673352"/>
          </a:xfrm>
          <a:prstGeom prst="rect">
            <a:avLst/>
          </a:prstGeom>
          <a:solidFill>
            <a:srgbClr val="EB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651760"/>
            <a:ext cx="5120640" cy="100584"/>
          </a:xfrm>
          <a:prstGeom prst="rect">
            <a:avLst/>
          </a:prstGeom>
          <a:solidFill>
            <a:srgbClr val="02B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944368"/>
            <a:ext cx="4608575" cy="457200"/>
          </a:xfrm>
          <a:prstGeom prst="rect">
            <a:avLst/>
          </a:prstGeom>
          <a:noFill/>
        </p:spPr>
        <p:txBody>
          <a:bodyPr wrap="square" anchor="t" lIns="0" rIns="0" tIns="0" bIns="0">
            <a:spAutoFit/>
          </a:bodyPr>
          <a:lstStyle/>
          <a:p>
            <a:pPr algn="l"/>
            <a:r>
              <a:rPr sz="1600" b="1" i="0" spc="60">
                <a:solidFill>
                  <a:srgbClr val="02B896"/>
                </a:solidFill>
                <a:latin typeface="DM Sans"/>
              </a:rPr>
              <a:t>Azure CLI</a:t>
            </a:r>
          </a:p>
        </p:txBody>
      </p:sp>
      <p:sp>
        <p:nvSpPr>
          <p:cNvPr id="11" name="TextBox 10"/>
          <p:cNvSpPr txBox="1"/>
          <p:nvPr/>
        </p:nvSpPr>
        <p:spPr>
          <a:xfrm>
            <a:off x="1078992" y="3474720"/>
            <a:ext cx="4608575" cy="713232"/>
          </a:xfrm>
          <a:prstGeom prst="rect">
            <a:avLst/>
          </a:prstGeom>
          <a:noFill/>
        </p:spPr>
        <p:txBody>
          <a:bodyPr wrap="square" anchor="t" lIns="0" rIns="0" tIns="0" bIns="0">
            <a:spAutoFit/>
          </a:bodyPr>
          <a:lstStyle/>
          <a:p>
            <a:pPr algn="l">
              <a:spcAft>
                <a:spcPts val="400"/>
              </a:spcAft>
            </a:pPr>
            <a:r>
              <a:rPr sz="1200" b="0" i="0">
                <a:solidFill>
                  <a:srgbClr val="4A4A4A"/>
                </a:solidFill>
                <a:latin typeface="DM Sans"/>
              </a:rPr>
              <a:t>az — the cross-platform workhorse</a:t>
            </a:r>
          </a:p>
          <a:p>
            <a:pPr algn="l">
              <a:spcAft>
                <a:spcPts val="400"/>
              </a:spcAft>
            </a:pPr>
            <a:r>
              <a:rPr sz="1200" b="0" i="0">
                <a:solidFill>
                  <a:srgbClr val="4A4A4A"/>
                </a:solidFill>
                <a:latin typeface="DM Sans"/>
              </a:rPr>
              <a:t>Most everyday reading &amp; changing</a:t>
            </a:r>
          </a:p>
        </p:txBody>
      </p:sp>
      <p:pic>
        <p:nvPicPr>
          <p:cNvPr id="12" name="Picture 11" descr="azure-blue.png"/>
          <p:cNvPicPr>
            <a:picLocks noChangeAspect="1"/>
          </p:cNvPicPr>
          <p:nvPr/>
        </p:nvPicPr>
        <p:blipFill>
          <a:blip r:embed="rId2"/>
          <a:stretch>
            <a:fillRect/>
          </a:stretch>
        </p:blipFill>
        <p:spPr>
          <a:xfrm>
            <a:off x="5230368" y="2962656"/>
            <a:ext cx="457200" cy="457200"/>
          </a:xfrm>
          <a:prstGeom prst="rect">
            <a:avLst/>
          </a:prstGeom>
        </p:spPr>
      </p:pic>
      <p:sp>
        <p:nvSpPr>
          <p:cNvPr id="13" name="Rectangle 12"/>
          <p:cNvSpPr/>
          <p:nvPr/>
        </p:nvSpPr>
        <p:spPr>
          <a:xfrm>
            <a:off x="6263640" y="2651760"/>
            <a:ext cx="5120640" cy="1673352"/>
          </a:xfrm>
          <a:prstGeom prst="rect">
            <a:avLst/>
          </a:prstGeom>
          <a:solidFill>
            <a:srgbClr val="EB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2651760"/>
            <a:ext cx="5120640" cy="100584"/>
          </a:xfrm>
          <a:prstGeom prst="rect">
            <a:avLst/>
          </a:prstGeom>
          <a:solidFill>
            <a:srgbClr val="005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2944368"/>
            <a:ext cx="4608575" cy="457200"/>
          </a:xfrm>
          <a:prstGeom prst="rect">
            <a:avLst/>
          </a:prstGeom>
          <a:noFill/>
        </p:spPr>
        <p:txBody>
          <a:bodyPr wrap="square" anchor="t" lIns="0" rIns="0" tIns="0" bIns="0">
            <a:spAutoFit/>
          </a:bodyPr>
          <a:lstStyle/>
          <a:p>
            <a:pPr algn="l"/>
            <a:r>
              <a:rPr sz="1600" b="1" i="0" spc="60">
                <a:solidFill>
                  <a:srgbClr val="00517E"/>
                </a:solidFill>
                <a:latin typeface="DM Sans"/>
              </a:rPr>
              <a:t>Azure PowerShell</a:t>
            </a:r>
          </a:p>
        </p:txBody>
      </p:sp>
      <p:sp>
        <p:nvSpPr>
          <p:cNvPr id="16" name="TextBox 15"/>
          <p:cNvSpPr txBox="1"/>
          <p:nvPr/>
        </p:nvSpPr>
        <p:spPr>
          <a:xfrm>
            <a:off x="6519672" y="3474720"/>
            <a:ext cx="4608575" cy="713232"/>
          </a:xfrm>
          <a:prstGeom prst="rect">
            <a:avLst/>
          </a:prstGeom>
          <a:noFill/>
        </p:spPr>
        <p:txBody>
          <a:bodyPr wrap="square" anchor="t" lIns="0" rIns="0" tIns="0" bIns="0">
            <a:spAutoFit/>
          </a:bodyPr>
          <a:lstStyle/>
          <a:p>
            <a:pPr algn="l">
              <a:spcAft>
                <a:spcPts val="400"/>
              </a:spcAft>
            </a:pPr>
            <a:r>
              <a:rPr sz="1200" b="0" i="0">
                <a:solidFill>
                  <a:srgbClr val="4A4A4A"/>
                </a:solidFill>
                <a:latin typeface="DM Sans"/>
              </a:rPr>
              <a:t>Az module — the same, in PowerShell</a:t>
            </a:r>
          </a:p>
          <a:p>
            <a:pPr algn="l">
              <a:spcAft>
                <a:spcPts val="400"/>
              </a:spcAft>
            </a:pPr>
            <a:r>
              <a:rPr sz="1200" b="0" i="0">
                <a:solidFill>
                  <a:srgbClr val="4A4A4A"/>
                </a:solidFill>
                <a:latin typeface="DM Sans"/>
              </a:rPr>
              <a:t>For the PowerShell-minded viewer</a:t>
            </a:r>
          </a:p>
        </p:txBody>
      </p:sp>
      <p:pic>
        <p:nvPicPr>
          <p:cNvPr id="17" name="Picture 16" descr="powershell-blue.png"/>
          <p:cNvPicPr>
            <a:picLocks noChangeAspect="1"/>
          </p:cNvPicPr>
          <p:nvPr/>
        </p:nvPicPr>
        <p:blipFill>
          <a:blip r:embed="rId3"/>
          <a:stretch>
            <a:fillRect/>
          </a:stretch>
        </p:blipFill>
        <p:spPr>
          <a:xfrm>
            <a:off x="10671048" y="2962656"/>
            <a:ext cx="457200" cy="457200"/>
          </a:xfrm>
          <a:prstGeom prst="rect">
            <a:avLst/>
          </a:prstGeom>
        </p:spPr>
      </p:pic>
      <p:sp>
        <p:nvSpPr>
          <p:cNvPr id="18" name="Rectangle 17"/>
          <p:cNvSpPr/>
          <p:nvPr/>
        </p:nvSpPr>
        <p:spPr>
          <a:xfrm>
            <a:off x="822960" y="4416552"/>
            <a:ext cx="5120640" cy="1673352"/>
          </a:xfrm>
          <a:prstGeom prst="rect">
            <a:avLst/>
          </a:prstGeom>
          <a:solidFill>
            <a:srgbClr val="EB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 y="4416552"/>
            <a:ext cx="5120640" cy="100584"/>
          </a:xfrm>
          <a:prstGeom prst="rect">
            <a:avLst/>
          </a:prstGeom>
          <a:solidFill>
            <a:srgbClr val="537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8992" y="4709160"/>
            <a:ext cx="4608575" cy="457200"/>
          </a:xfrm>
          <a:prstGeom prst="rect">
            <a:avLst/>
          </a:prstGeom>
          <a:noFill/>
        </p:spPr>
        <p:txBody>
          <a:bodyPr wrap="square" anchor="t" lIns="0" rIns="0" tIns="0" bIns="0">
            <a:spAutoFit/>
          </a:bodyPr>
          <a:lstStyle/>
          <a:p>
            <a:pPr algn="l"/>
            <a:r>
              <a:rPr sz="1600" b="1" i="0" spc="60">
                <a:solidFill>
                  <a:srgbClr val="537780"/>
                </a:solidFill>
                <a:latin typeface="DM Sans"/>
              </a:rPr>
              <a:t>Azure MCP Server</a:t>
            </a:r>
          </a:p>
        </p:txBody>
      </p:sp>
      <p:sp>
        <p:nvSpPr>
          <p:cNvPr id="21" name="TextBox 20"/>
          <p:cNvSpPr txBox="1"/>
          <p:nvPr/>
        </p:nvSpPr>
        <p:spPr>
          <a:xfrm>
            <a:off x="1078992" y="5239512"/>
            <a:ext cx="4608575" cy="713232"/>
          </a:xfrm>
          <a:prstGeom prst="rect">
            <a:avLst/>
          </a:prstGeom>
          <a:noFill/>
        </p:spPr>
        <p:txBody>
          <a:bodyPr wrap="square" anchor="t" lIns="0" rIns="0" tIns="0" bIns="0">
            <a:spAutoFit/>
          </a:bodyPr>
          <a:lstStyle/>
          <a:p>
            <a:pPr algn="l">
              <a:spcAft>
                <a:spcPts val="400"/>
              </a:spcAft>
            </a:pPr>
            <a:r>
              <a:rPr sz="1200" b="0" i="0">
                <a:solidFill>
                  <a:srgbClr val="4A4A4A"/>
                </a:solidFill>
                <a:latin typeface="DM Sans"/>
              </a:rPr>
              <a:t>Structured Azure tools for Claude</a:t>
            </a:r>
          </a:p>
          <a:p>
            <a:pPr algn="l">
              <a:spcAft>
                <a:spcPts val="400"/>
              </a:spcAft>
            </a:pPr>
            <a:r>
              <a:rPr sz="1200" b="0" i="0">
                <a:solidFill>
                  <a:srgbClr val="4A4A4A"/>
                </a:solidFill>
                <a:latin typeface="DM Sans"/>
              </a:rPr>
              <a:t>Instead of raw commands</a:t>
            </a:r>
          </a:p>
        </p:txBody>
      </p:sp>
      <p:pic>
        <p:nvPicPr>
          <p:cNvPr id="22" name="Picture 21" descr="microsoft-blue.png"/>
          <p:cNvPicPr>
            <a:picLocks noChangeAspect="1"/>
          </p:cNvPicPr>
          <p:nvPr/>
        </p:nvPicPr>
        <p:blipFill>
          <a:blip r:embed="rId4"/>
          <a:stretch>
            <a:fillRect/>
          </a:stretch>
        </p:blipFill>
        <p:spPr>
          <a:xfrm>
            <a:off x="5230368" y="4727448"/>
            <a:ext cx="457200" cy="457200"/>
          </a:xfrm>
          <a:prstGeom prst="rect">
            <a:avLst/>
          </a:prstGeom>
        </p:spPr>
      </p:pic>
      <p:sp>
        <p:nvSpPr>
          <p:cNvPr id="23" name="Rectangle 22"/>
          <p:cNvSpPr/>
          <p:nvPr/>
        </p:nvSpPr>
        <p:spPr>
          <a:xfrm>
            <a:off x="6263640" y="4416552"/>
            <a:ext cx="5120640" cy="1673352"/>
          </a:xfrm>
          <a:prstGeom prst="rect">
            <a:avLst/>
          </a:prstGeom>
          <a:solidFill>
            <a:srgbClr val="EB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63640" y="4416552"/>
            <a:ext cx="5120640" cy="100584"/>
          </a:xfrm>
          <a:prstGeom prst="rect">
            <a:avLst/>
          </a:prstGeom>
          <a:solidFill>
            <a:srgbClr val="0B3E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19672" y="4709160"/>
            <a:ext cx="4608575" cy="457200"/>
          </a:xfrm>
          <a:prstGeom prst="rect">
            <a:avLst/>
          </a:prstGeom>
          <a:noFill/>
        </p:spPr>
        <p:txBody>
          <a:bodyPr wrap="square" anchor="t" lIns="0" rIns="0" tIns="0" bIns="0">
            <a:spAutoFit/>
          </a:bodyPr>
          <a:lstStyle/>
          <a:p>
            <a:pPr algn="l"/>
            <a:r>
              <a:rPr sz="1600" b="1" i="0" spc="60">
                <a:solidFill>
                  <a:srgbClr val="0B3EBE"/>
                </a:solidFill>
                <a:latin typeface="DM Sans"/>
              </a:rPr>
              <a:t>Bicep</a:t>
            </a:r>
          </a:p>
        </p:txBody>
      </p:sp>
      <p:sp>
        <p:nvSpPr>
          <p:cNvPr id="26" name="TextBox 25"/>
          <p:cNvSpPr txBox="1"/>
          <p:nvPr/>
        </p:nvSpPr>
        <p:spPr>
          <a:xfrm>
            <a:off x="6519672" y="5239512"/>
            <a:ext cx="4608575" cy="713232"/>
          </a:xfrm>
          <a:prstGeom prst="rect">
            <a:avLst/>
          </a:prstGeom>
          <a:noFill/>
        </p:spPr>
        <p:txBody>
          <a:bodyPr wrap="square" anchor="t" lIns="0" rIns="0" tIns="0" bIns="0">
            <a:spAutoFit/>
          </a:bodyPr>
          <a:lstStyle/>
          <a:p>
            <a:pPr algn="l">
              <a:spcAft>
                <a:spcPts val="400"/>
              </a:spcAft>
            </a:pPr>
            <a:r>
              <a:rPr sz="1200" b="0" i="0">
                <a:solidFill>
                  <a:srgbClr val="4A4A4A"/>
                </a:solidFill>
                <a:latin typeface="DM Sans"/>
              </a:rPr>
              <a:t>Microsoft-native infrastructure as code</a:t>
            </a:r>
          </a:p>
          <a:p>
            <a:pPr algn="l">
              <a:spcAft>
                <a:spcPts val="400"/>
              </a:spcAft>
            </a:pPr>
            <a:r>
              <a:rPr sz="1200" b="0" i="0">
                <a:solidFill>
                  <a:srgbClr val="4A4A4A"/>
                </a:solidFill>
                <a:latin typeface="DM Sans"/>
              </a:rPr>
              <a:t>Claude writes it, you deploy</a:t>
            </a:r>
          </a:p>
        </p:txBody>
      </p:sp>
      <p:sp>
        <p:nvSpPr>
          <p:cNvPr id="27" name="Rounded Rectangle 26"/>
          <p:cNvSpPr/>
          <p:nvPr/>
        </p:nvSpPr>
        <p:spPr>
          <a:xfrm>
            <a:off x="10671048" y="4709160"/>
            <a:ext cx="475488" cy="475488"/>
          </a:xfrm>
          <a:prstGeom prst="roundRect">
            <a:avLst>
              <a:gd name="adj" fmla="val 25000"/>
            </a:avLst>
          </a:prstGeom>
          <a:solidFill>
            <a:srgbClr val="0B3EB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DM Sans"/>
              </a:rP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ccent-ligh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46304" cy="6858000"/>
          </a:xfrm>
          <a:prstGeom prst="rect">
            <a:avLst/>
          </a:prstGeom>
          <a:solidFill>
            <a:srgbClr val="02B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058400" cy="320040"/>
          </a:xfrm>
          <a:prstGeom prst="rect">
            <a:avLst/>
          </a:prstGeom>
          <a:noFill/>
        </p:spPr>
        <p:txBody>
          <a:bodyPr wrap="square" anchor="t" lIns="0" rIns="0" tIns="0" bIns="0">
            <a:spAutoFit/>
          </a:bodyPr>
          <a:lstStyle/>
          <a:p>
            <a:pPr algn="l"/>
            <a:r>
              <a:rPr sz="1250" b="1" i="0" spc="180">
                <a:solidFill>
                  <a:srgbClr val="02B896"/>
                </a:solidFill>
                <a:latin typeface="DM Sans"/>
              </a:rPr>
              <a:t>CHAPTER 4</a:t>
            </a:r>
          </a:p>
        </p:txBody>
      </p:sp>
      <p:sp>
        <p:nvSpPr>
          <p:cNvPr id="5" name="TextBox 4"/>
          <p:cNvSpPr txBox="1"/>
          <p:nvPr/>
        </p:nvSpPr>
        <p:spPr>
          <a:xfrm>
            <a:off x="822960" y="886968"/>
            <a:ext cx="10698480" cy="868680"/>
          </a:xfrm>
          <a:prstGeom prst="rect">
            <a:avLst/>
          </a:prstGeom>
          <a:noFill/>
        </p:spPr>
        <p:txBody>
          <a:bodyPr wrap="square" anchor="t" lIns="0" rIns="0" tIns="0" bIns="0">
            <a:spAutoFit/>
          </a:bodyPr>
          <a:lstStyle/>
          <a:p>
            <a:pPr algn="l"/>
            <a:r>
              <a:rPr sz="3100" b="1" i="0">
                <a:solidFill>
                  <a:srgbClr val="00517E"/>
                </a:solidFill>
                <a:latin typeface="DM Sans"/>
              </a:rPr>
              <a:t>The running order</a:t>
            </a:r>
          </a:p>
        </p:txBody>
      </p:sp>
      <p:sp>
        <p:nvSpPr>
          <p:cNvPr id="6" name="TextBox 5"/>
          <p:cNvSpPr txBox="1"/>
          <p:nvPr/>
        </p:nvSpPr>
        <p:spPr>
          <a:xfrm>
            <a:off x="822960" y="6428232"/>
            <a:ext cx="6858000" cy="310896"/>
          </a:xfrm>
          <a:prstGeom prst="rect">
            <a:avLst/>
          </a:prstGeom>
          <a:noFill/>
        </p:spPr>
        <p:txBody>
          <a:bodyPr wrap="square" anchor="t" lIns="0" rIns="0" tIns="0" bIns="0">
            <a:spAutoFit/>
          </a:bodyPr>
          <a:lstStyle/>
          <a:p>
            <a:pPr algn="l"/>
            <a:r>
              <a:rPr sz="1200" b="0" i="0">
                <a:solidFill>
                  <a:srgbClr val="888888"/>
                </a:solidFill>
                <a:latin typeface="DM Sans"/>
              </a:rPr>
              <a:t>Manage Azure with Claude Code</a:t>
            </a:r>
          </a:p>
        </p:txBody>
      </p:sp>
      <p:sp>
        <p:nvSpPr>
          <p:cNvPr id="7" name="TextBox 6"/>
          <p:cNvSpPr txBox="1"/>
          <p:nvPr/>
        </p:nvSpPr>
        <p:spPr>
          <a:xfrm>
            <a:off x="7863840" y="6428232"/>
            <a:ext cx="3502152" cy="310896"/>
          </a:xfrm>
          <a:prstGeom prst="rect">
            <a:avLst/>
          </a:prstGeom>
          <a:noFill/>
        </p:spPr>
        <p:txBody>
          <a:bodyPr wrap="square" anchor="t" lIns="0" rIns="0" tIns="0" bIns="0">
            <a:spAutoFit/>
          </a:bodyPr>
          <a:lstStyle/>
          <a:p>
            <a:pPr algn="r"/>
            <a:r>
              <a:rPr sz="1200" b="1" i="0">
                <a:solidFill>
                  <a:srgbClr val="537780"/>
                </a:solidFill>
                <a:latin typeface="DM Sans"/>
              </a:rPr>
              <a:t>Langate   ·   5</a:t>
            </a:r>
          </a:p>
        </p:txBody>
      </p:sp>
      <p:sp>
        <p:nvSpPr>
          <p:cNvPr id="8" name="TextBox 7"/>
          <p:cNvSpPr txBox="1"/>
          <p:nvPr/>
        </p:nvSpPr>
        <p:spPr>
          <a:xfrm>
            <a:off x="822960" y="2103120"/>
            <a:ext cx="7498079" cy="1097280"/>
          </a:xfrm>
          <a:prstGeom prst="rect">
            <a:avLst/>
          </a:prstGeom>
          <a:noFill/>
        </p:spPr>
        <p:txBody>
          <a:bodyPr wrap="square" anchor="t" lIns="0" rIns="0" tIns="0" bIns="0">
            <a:spAutoFit/>
          </a:bodyPr>
          <a:lstStyle/>
          <a:p>
            <a:pPr algn="l">
              <a:spcAft>
                <a:spcPts val="600"/>
              </a:spcAft>
            </a:pPr>
            <a:r>
              <a:rPr sz="1600" b="0" i="0">
                <a:solidFill>
                  <a:srgbClr val="4A4A4A"/>
                </a:solidFill>
                <a:latin typeface="DM Sans"/>
              </a:rPr>
              <a:t>Nineteen episodes, each standing on its own —</a:t>
            </a:r>
          </a:p>
          <a:p>
            <a:pPr algn="l"/>
            <a:r>
              <a:rPr sz="1600" b="0" i="0">
                <a:solidFill>
                  <a:srgbClr val="4A4A4A"/>
                </a:solidFill>
                <a:latin typeface="DM Sans"/>
              </a:rPr>
              <a:t>one continuous arc from first sign-in to governance.</a:t>
            </a:r>
          </a:p>
        </p:txBody>
      </p:sp>
      <p:sp>
        <p:nvSpPr>
          <p:cNvPr id="9" name="Rounded Rectangle 8"/>
          <p:cNvSpPr/>
          <p:nvPr/>
        </p:nvSpPr>
        <p:spPr>
          <a:xfrm>
            <a:off x="8778240" y="1847088"/>
            <a:ext cx="2560320" cy="1719072"/>
          </a:xfrm>
          <a:prstGeom prst="roundRect">
            <a:avLst>
              <a:gd name="adj" fmla="val 10000"/>
            </a:avLst>
          </a:prstGeom>
          <a:gradFill rotWithShape="1">
            <a:gsLst>
              <a:gs pos="0">
                <a:srgbClr val="E6FAF6"/>
              </a:gs>
              <a:gs pos="100000">
                <a:srgbClr val="D6F1E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1993392"/>
            <a:ext cx="2560320" cy="1005840"/>
          </a:xfrm>
          <a:prstGeom prst="rect">
            <a:avLst/>
          </a:prstGeom>
          <a:noFill/>
        </p:spPr>
        <p:txBody>
          <a:bodyPr wrap="square" anchor="t" lIns="0" rIns="0" tIns="0" bIns="0">
            <a:spAutoFit/>
          </a:bodyPr>
          <a:lstStyle/>
          <a:p>
            <a:pPr algn="ctr"/>
            <a:r>
              <a:rPr sz="5800" b="1" i="0">
                <a:solidFill>
                  <a:srgbClr val="02B896"/>
                </a:solidFill>
                <a:latin typeface="DM Sans"/>
              </a:rPr>
              <a:t>19</a:t>
            </a:r>
          </a:p>
        </p:txBody>
      </p:sp>
      <p:sp>
        <p:nvSpPr>
          <p:cNvPr id="11" name="TextBox 10"/>
          <p:cNvSpPr txBox="1"/>
          <p:nvPr/>
        </p:nvSpPr>
        <p:spPr>
          <a:xfrm>
            <a:off x="8778240" y="3072384"/>
            <a:ext cx="2560320" cy="365760"/>
          </a:xfrm>
          <a:prstGeom prst="rect">
            <a:avLst/>
          </a:prstGeom>
          <a:noFill/>
        </p:spPr>
        <p:txBody>
          <a:bodyPr wrap="square" anchor="t" lIns="0" rIns="0" tIns="0" bIns="0">
            <a:spAutoFit/>
          </a:bodyPr>
          <a:lstStyle/>
          <a:p>
            <a:pPr algn="ctr"/>
            <a:r>
              <a:rPr sz="1200" b="1" i="0" spc="200">
                <a:solidFill>
                  <a:srgbClr val="537780"/>
                </a:solidFill>
                <a:latin typeface="DM Sans"/>
              </a:rPr>
              <a:t>EPISODES</a:t>
            </a:r>
          </a:p>
        </p:txBody>
      </p:sp>
      <p:sp>
        <p:nvSpPr>
          <p:cNvPr id="12" name="Rounded Rectangle 11"/>
          <p:cNvSpPr/>
          <p:nvPr/>
        </p:nvSpPr>
        <p:spPr>
          <a:xfrm>
            <a:off x="868680" y="3794760"/>
            <a:ext cx="1280160" cy="658368"/>
          </a:xfrm>
          <a:prstGeom prst="roundRect">
            <a:avLst>
              <a:gd name="adj" fmla="val 50000"/>
            </a:avLst>
          </a:prstGeom>
          <a:gradFill rotWithShape="1">
            <a:gsLst>
              <a:gs pos="0">
                <a:srgbClr val="02B896"/>
              </a:gs>
              <a:gs pos="100000">
                <a:srgbClr val="01967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Setup</a:t>
            </a:r>
          </a:p>
        </p:txBody>
      </p:sp>
      <p:sp>
        <p:nvSpPr>
          <p:cNvPr id="13" name="TextBox 12"/>
          <p:cNvSpPr txBox="1"/>
          <p:nvPr/>
        </p:nvSpPr>
        <p:spPr>
          <a:xfrm>
            <a:off x="2130551" y="3794760"/>
            <a:ext cx="292608" cy="658368"/>
          </a:xfrm>
          <a:prstGeom prst="rect">
            <a:avLst/>
          </a:prstGeom>
          <a:noFill/>
        </p:spPr>
        <p:txBody>
          <a:bodyPr wrap="square" anchor="ctr" lIns="0" rIns="0" tIns="0" bIns="0">
            <a:spAutoFit/>
          </a:bodyPr>
          <a:lstStyle/>
          <a:p>
            <a:pPr algn="ctr"/>
            <a:r>
              <a:rPr sz="1800" b="1" i="0">
                <a:solidFill>
                  <a:srgbClr val="537780"/>
                </a:solidFill>
                <a:latin typeface="DM Sans"/>
              </a:rPr>
              <a:t>→</a:t>
            </a:r>
          </a:p>
        </p:txBody>
      </p:sp>
      <p:sp>
        <p:nvSpPr>
          <p:cNvPr id="14" name="Rounded Rectangle 13"/>
          <p:cNvSpPr/>
          <p:nvPr/>
        </p:nvSpPr>
        <p:spPr>
          <a:xfrm>
            <a:off x="2404872" y="3794760"/>
            <a:ext cx="1280160" cy="658368"/>
          </a:xfrm>
          <a:prstGeom prst="roundRect">
            <a:avLst>
              <a:gd name="adj" fmla="val 50000"/>
            </a:avLst>
          </a:prstGeom>
          <a:gradFill rotWithShape="1">
            <a:gsLst>
              <a:gs pos="0">
                <a:srgbClr val="01A692"/>
              </a:gs>
              <a:gs pos="100000">
                <a:srgbClr val="008877"/>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Explore</a:t>
            </a:r>
          </a:p>
        </p:txBody>
      </p:sp>
      <p:sp>
        <p:nvSpPr>
          <p:cNvPr id="15" name="TextBox 14"/>
          <p:cNvSpPr txBox="1"/>
          <p:nvPr/>
        </p:nvSpPr>
        <p:spPr>
          <a:xfrm>
            <a:off x="3666744" y="3794760"/>
            <a:ext cx="292608" cy="658368"/>
          </a:xfrm>
          <a:prstGeom prst="rect">
            <a:avLst/>
          </a:prstGeom>
          <a:noFill/>
        </p:spPr>
        <p:txBody>
          <a:bodyPr wrap="square" anchor="ctr" lIns="0" rIns="0" tIns="0" bIns="0">
            <a:spAutoFit/>
          </a:bodyPr>
          <a:lstStyle/>
          <a:p>
            <a:pPr algn="ctr"/>
            <a:r>
              <a:rPr sz="1800" b="1" i="0">
                <a:solidFill>
                  <a:srgbClr val="537780"/>
                </a:solidFill>
                <a:latin typeface="DM Sans"/>
              </a:rPr>
              <a:t>→</a:t>
            </a:r>
          </a:p>
        </p:txBody>
      </p:sp>
      <p:sp>
        <p:nvSpPr>
          <p:cNvPr id="16" name="Rounded Rectangle 15"/>
          <p:cNvSpPr/>
          <p:nvPr/>
        </p:nvSpPr>
        <p:spPr>
          <a:xfrm>
            <a:off x="3941063" y="3794760"/>
            <a:ext cx="1280160" cy="658368"/>
          </a:xfrm>
          <a:prstGeom prst="roundRect">
            <a:avLst>
              <a:gd name="adj" fmla="val 50000"/>
            </a:avLst>
          </a:prstGeom>
          <a:gradFill rotWithShape="1">
            <a:gsLst>
              <a:gs pos="0">
                <a:srgbClr val="01958E"/>
              </a:gs>
              <a:gs pos="100000">
                <a:srgbClr val="007A7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Change</a:t>
            </a:r>
          </a:p>
        </p:txBody>
      </p:sp>
      <p:sp>
        <p:nvSpPr>
          <p:cNvPr id="17" name="TextBox 16"/>
          <p:cNvSpPr txBox="1"/>
          <p:nvPr/>
        </p:nvSpPr>
        <p:spPr>
          <a:xfrm>
            <a:off x="5202936" y="3794760"/>
            <a:ext cx="292608" cy="658368"/>
          </a:xfrm>
          <a:prstGeom prst="rect">
            <a:avLst/>
          </a:prstGeom>
          <a:noFill/>
        </p:spPr>
        <p:txBody>
          <a:bodyPr wrap="square" anchor="ctr" lIns="0" rIns="0" tIns="0" bIns="0">
            <a:spAutoFit/>
          </a:bodyPr>
          <a:lstStyle/>
          <a:p>
            <a:pPr algn="ctr"/>
            <a:r>
              <a:rPr sz="1800" b="1" i="0">
                <a:solidFill>
                  <a:srgbClr val="537780"/>
                </a:solidFill>
                <a:latin typeface="DM Sans"/>
              </a:rPr>
              <a:t>→</a:t>
            </a:r>
          </a:p>
        </p:txBody>
      </p:sp>
      <p:sp>
        <p:nvSpPr>
          <p:cNvPr id="18" name="Rounded Rectangle 17"/>
          <p:cNvSpPr/>
          <p:nvPr/>
        </p:nvSpPr>
        <p:spPr>
          <a:xfrm>
            <a:off x="5477256" y="3794760"/>
            <a:ext cx="1280160" cy="658368"/>
          </a:xfrm>
          <a:prstGeom prst="roundRect">
            <a:avLst>
              <a:gd name="adj" fmla="val 50000"/>
            </a:avLst>
          </a:prstGeom>
          <a:gradFill rotWithShape="1">
            <a:gsLst>
              <a:gs pos="0">
                <a:srgbClr val="01848A"/>
              </a:gs>
              <a:gs pos="100000">
                <a:srgbClr val="006C71"/>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Deploy</a:t>
            </a:r>
          </a:p>
        </p:txBody>
      </p:sp>
      <p:sp>
        <p:nvSpPr>
          <p:cNvPr id="19" name="TextBox 18"/>
          <p:cNvSpPr txBox="1"/>
          <p:nvPr/>
        </p:nvSpPr>
        <p:spPr>
          <a:xfrm>
            <a:off x="6739128" y="3794760"/>
            <a:ext cx="292608" cy="658368"/>
          </a:xfrm>
          <a:prstGeom prst="rect">
            <a:avLst/>
          </a:prstGeom>
          <a:noFill/>
        </p:spPr>
        <p:txBody>
          <a:bodyPr wrap="square" anchor="ctr" lIns="0" rIns="0" tIns="0" bIns="0">
            <a:spAutoFit/>
          </a:bodyPr>
          <a:lstStyle/>
          <a:p>
            <a:pPr algn="ctr"/>
            <a:r>
              <a:rPr sz="1800" b="1" i="0">
                <a:solidFill>
                  <a:srgbClr val="537780"/>
                </a:solidFill>
                <a:latin typeface="DM Sans"/>
              </a:rPr>
              <a:t>→</a:t>
            </a:r>
          </a:p>
        </p:txBody>
      </p:sp>
      <p:sp>
        <p:nvSpPr>
          <p:cNvPr id="20" name="Rounded Rectangle 19"/>
          <p:cNvSpPr/>
          <p:nvPr/>
        </p:nvSpPr>
        <p:spPr>
          <a:xfrm>
            <a:off x="7013448" y="3794760"/>
            <a:ext cx="1280160" cy="658368"/>
          </a:xfrm>
          <a:prstGeom prst="roundRect">
            <a:avLst>
              <a:gd name="adj" fmla="val 50000"/>
            </a:avLst>
          </a:prstGeom>
          <a:gradFill rotWithShape="1">
            <a:gsLst>
              <a:gs pos="0">
                <a:srgbClr val="007386"/>
              </a:gs>
              <a:gs pos="100000">
                <a:srgbClr val="005E6D"/>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Automate</a:t>
            </a:r>
          </a:p>
        </p:txBody>
      </p:sp>
      <p:sp>
        <p:nvSpPr>
          <p:cNvPr id="21" name="TextBox 20"/>
          <p:cNvSpPr txBox="1"/>
          <p:nvPr/>
        </p:nvSpPr>
        <p:spPr>
          <a:xfrm>
            <a:off x="8275320" y="3794760"/>
            <a:ext cx="292608" cy="658368"/>
          </a:xfrm>
          <a:prstGeom prst="rect">
            <a:avLst/>
          </a:prstGeom>
          <a:noFill/>
        </p:spPr>
        <p:txBody>
          <a:bodyPr wrap="square" anchor="ctr" lIns="0" rIns="0" tIns="0" bIns="0">
            <a:spAutoFit/>
          </a:bodyPr>
          <a:lstStyle/>
          <a:p>
            <a:pPr algn="ctr"/>
            <a:r>
              <a:rPr sz="1800" b="1" i="0">
                <a:solidFill>
                  <a:srgbClr val="537780"/>
                </a:solidFill>
                <a:latin typeface="DM Sans"/>
              </a:rPr>
              <a:t>→</a:t>
            </a:r>
          </a:p>
        </p:txBody>
      </p:sp>
      <p:sp>
        <p:nvSpPr>
          <p:cNvPr id="22" name="Rounded Rectangle 21"/>
          <p:cNvSpPr/>
          <p:nvPr/>
        </p:nvSpPr>
        <p:spPr>
          <a:xfrm>
            <a:off x="8549640" y="3794760"/>
            <a:ext cx="1280160" cy="658368"/>
          </a:xfrm>
          <a:prstGeom prst="roundRect">
            <a:avLst>
              <a:gd name="adj" fmla="val 50000"/>
            </a:avLst>
          </a:prstGeom>
          <a:gradFill rotWithShape="1">
            <a:gsLst>
              <a:gs pos="0">
                <a:srgbClr val="006282"/>
              </a:gs>
              <a:gs pos="100000">
                <a:srgbClr val="00506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Host</a:t>
            </a:r>
          </a:p>
        </p:txBody>
      </p:sp>
      <p:sp>
        <p:nvSpPr>
          <p:cNvPr id="23" name="TextBox 22"/>
          <p:cNvSpPr txBox="1"/>
          <p:nvPr/>
        </p:nvSpPr>
        <p:spPr>
          <a:xfrm>
            <a:off x="9811512" y="3794760"/>
            <a:ext cx="292608" cy="658368"/>
          </a:xfrm>
          <a:prstGeom prst="rect">
            <a:avLst/>
          </a:prstGeom>
          <a:noFill/>
        </p:spPr>
        <p:txBody>
          <a:bodyPr wrap="square" anchor="ctr" lIns="0" rIns="0" tIns="0" bIns="0">
            <a:spAutoFit/>
          </a:bodyPr>
          <a:lstStyle/>
          <a:p>
            <a:pPr algn="ctr"/>
            <a:r>
              <a:rPr sz="1800" b="1" i="0">
                <a:solidFill>
                  <a:srgbClr val="537780"/>
                </a:solidFill>
                <a:latin typeface="DM Sans"/>
              </a:rPr>
              <a:t>→</a:t>
            </a:r>
          </a:p>
        </p:txBody>
      </p:sp>
      <p:sp>
        <p:nvSpPr>
          <p:cNvPr id="24" name="Rounded Rectangle 23"/>
          <p:cNvSpPr/>
          <p:nvPr/>
        </p:nvSpPr>
        <p:spPr>
          <a:xfrm>
            <a:off x="10085832" y="3794760"/>
            <a:ext cx="1280160" cy="658368"/>
          </a:xfrm>
          <a:prstGeom prst="roundRect">
            <a:avLst>
              <a:gd name="adj" fmla="val 50000"/>
            </a:avLst>
          </a:prstGeom>
          <a:gradFill rotWithShape="1">
            <a:gsLst>
              <a:gs pos="0">
                <a:srgbClr val="00517E"/>
              </a:gs>
              <a:gs pos="100000">
                <a:srgbClr val="004267"/>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Govern</a:t>
            </a:r>
          </a:p>
        </p:txBody>
      </p:sp>
      <p:sp>
        <p:nvSpPr>
          <p:cNvPr id="25" name="Rounded Rectangle 24"/>
          <p:cNvSpPr/>
          <p:nvPr/>
        </p:nvSpPr>
        <p:spPr>
          <a:xfrm>
            <a:off x="822960" y="5074920"/>
            <a:ext cx="10506456" cy="868680"/>
          </a:xfrm>
          <a:prstGeom prst="roundRect">
            <a:avLst>
              <a:gd name="adj" fmla="val 12000"/>
            </a:avLst>
          </a:prstGeom>
          <a:solidFill>
            <a:srgbClr val="E6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43000" y="5074920"/>
            <a:ext cx="9866376" cy="868680"/>
          </a:xfrm>
          <a:prstGeom prst="rect">
            <a:avLst/>
          </a:prstGeom>
          <a:noFill/>
        </p:spPr>
        <p:txBody>
          <a:bodyPr wrap="square" anchor="ctr" lIns="0" rIns="0" tIns="0" bIns="0">
            <a:spAutoFit/>
          </a:bodyPr>
          <a:lstStyle/>
          <a:p>
            <a:pPr algn="l">
              <a:spcAft>
                <a:spcPts val="300"/>
              </a:spcAft>
            </a:pPr>
            <a:r>
              <a:rPr sz="1350" b="0" i="0">
                <a:solidFill>
                  <a:srgbClr val="4A4A4A"/>
                </a:solidFill>
                <a:latin typeface="DM Sans"/>
              </a:rPr>
              <a:t>Azure AI services lands as Episode 5 — the theme of the series:</a:t>
            </a:r>
          </a:p>
          <a:p>
            <a:pPr algn="l">
              <a:spcAft>
                <a:spcPts val="300"/>
              </a:spcAft>
            </a:pPr>
            <a:r>
              <a:rPr sz="1350" b="1" i="0">
                <a:solidFill>
                  <a:srgbClr val="00517E"/>
                </a:solidFill>
                <a:latin typeface="DM Sans"/>
              </a:rPr>
              <a:t>making things happen in every Azure area from a chat.</a:t>
            </a:r>
          </a:p>
        </p:txBody>
      </p:sp>
      <p:pic>
        <p:nvPicPr>
          <p:cNvPr id="27" name="Picture 26" descr="claude-teal.png"/>
          <p:cNvPicPr>
            <a:picLocks noChangeAspect="1"/>
          </p:cNvPicPr>
          <p:nvPr/>
        </p:nvPicPr>
        <p:blipFill>
          <a:blip r:embed="rId3"/>
          <a:stretch>
            <a:fillRect/>
          </a:stretch>
        </p:blipFill>
        <p:spPr>
          <a:xfrm>
            <a:off x="10442448" y="5330952"/>
            <a:ext cx="457200"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ccent-ligh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46304" cy="6858000"/>
          </a:xfrm>
          <a:prstGeom prst="rect">
            <a:avLst/>
          </a:prstGeom>
          <a:solidFill>
            <a:srgbClr val="02B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058400" cy="320040"/>
          </a:xfrm>
          <a:prstGeom prst="rect">
            <a:avLst/>
          </a:prstGeom>
          <a:noFill/>
        </p:spPr>
        <p:txBody>
          <a:bodyPr wrap="square" anchor="t" lIns="0" rIns="0" tIns="0" bIns="0">
            <a:spAutoFit/>
          </a:bodyPr>
          <a:lstStyle/>
          <a:p>
            <a:pPr algn="l"/>
            <a:r>
              <a:rPr sz="1250" b="1" i="0" spc="180">
                <a:solidFill>
                  <a:srgbClr val="02B896"/>
                </a:solidFill>
                <a:latin typeface="DM Sans"/>
              </a:rPr>
              <a:t>CHAPTER 5</a:t>
            </a:r>
          </a:p>
        </p:txBody>
      </p:sp>
      <p:sp>
        <p:nvSpPr>
          <p:cNvPr id="5" name="TextBox 4"/>
          <p:cNvSpPr txBox="1"/>
          <p:nvPr/>
        </p:nvSpPr>
        <p:spPr>
          <a:xfrm>
            <a:off x="822960" y="886968"/>
            <a:ext cx="10698480" cy="868680"/>
          </a:xfrm>
          <a:prstGeom prst="rect">
            <a:avLst/>
          </a:prstGeom>
          <a:noFill/>
        </p:spPr>
        <p:txBody>
          <a:bodyPr wrap="square" anchor="t" lIns="0" rIns="0" tIns="0" bIns="0">
            <a:spAutoFit/>
          </a:bodyPr>
          <a:lstStyle/>
          <a:p>
            <a:pPr algn="l"/>
            <a:r>
              <a:rPr sz="3100" b="1" i="0">
                <a:solidFill>
                  <a:srgbClr val="00517E"/>
                </a:solidFill>
                <a:latin typeface="DM Sans"/>
              </a:rPr>
              <a:t>Threads through every episode</a:t>
            </a:r>
          </a:p>
        </p:txBody>
      </p:sp>
      <p:sp>
        <p:nvSpPr>
          <p:cNvPr id="6" name="TextBox 5"/>
          <p:cNvSpPr txBox="1"/>
          <p:nvPr/>
        </p:nvSpPr>
        <p:spPr>
          <a:xfrm>
            <a:off x="822960" y="6428232"/>
            <a:ext cx="6858000" cy="310896"/>
          </a:xfrm>
          <a:prstGeom prst="rect">
            <a:avLst/>
          </a:prstGeom>
          <a:noFill/>
        </p:spPr>
        <p:txBody>
          <a:bodyPr wrap="square" anchor="t" lIns="0" rIns="0" tIns="0" bIns="0">
            <a:spAutoFit/>
          </a:bodyPr>
          <a:lstStyle/>
          <a:p>
            <a:pPr algn="l"/>
            <a:r>
              <a:rPr sz="1200" b="0" i="0">
                <a:solidFill>
                  <a:srgbClr val="888888"/>
                </a:solidFill>
                <a:latin typeface="DM Sans"/>
              </a:rPr>
              <a:t>Manage Azure with Claude Code</a:t>
            </a:r>
          </a:p>
        </p:txBody>
      </p:sp>
      <p:sp>
        <p:nvSpPr>
          <p:cNvPr id="7" name="TextBox 6"/>
          <p:cNvSpPr txBox="1"/>
          <p:nvPr/>
        </p:nvSpPr>
        <p:spPr>
          <a:xfrm>
            <a:off x="7863840" y="6428232"/>
            <a:ext cx="3502152" cy="310896"/>
          </a:xfrm>
          <a:prstGeom prst="rect">
            <a:avLst/>
          </a:prstGeom>
          <a:noFill/>
        </p:spPr>
        <p:txBody>
          <a:bodyPr wrap="square" anchor="t" lIns="0" rIns="0" tIns="0" bIns="0">
            <a:spAutoFit/>
          </a:bodyPr>
          <a:lstStyle/>
          <a:p>
            <a:pPr algn="r"/>
            <a:r>
              <a:rPr sz="1200" b="1" i="0">
                <a:solidFill>
                  <a:srgbClr val="537780"/>
                </a:solidFill>
                <a:latin typeface="DM Sans"/>
              </a:rPr>
              <a:t>Langate   ·   6</a:t>
            </a:r>
          </a:p>
        </p:txBody>
      </p:sp>
      <p:sp>
        <p:nvSpPr>
          <p:cNvPr id="8" name="TextBox 7"/>
          <p:cNvSpPr txBox="1"/>
          <p:nvPr/>
        </p:nvSpPr>
        <p:spPr>
          <a:xfrm>
            <a:off x="822960" y="2057400"/>
            <a:ext cx="10515600" cy="365760"/>
          </a:xfrm>
          <a:prstGeom prst="rect">
            <a:avLst/>
          </a:prstGeom>
          <a:noFill/>
        </p:spPr>
        <p:txBody>
          <a:bodyPr wrap="square" anchor="t" lIns="0" rIns="0" tIns="0" bIns="0">
            <a:spAutoFit/>
          </a:bodyPr>
          <a:lstStyle/>
          <a:p>
            <a:pPr algn="l"/>
            <a:r>
              <a:rPr sz="1500" b="1" i="0">
                <a:solidFill>
                  <a:srgbClr val="537780"/>
                </a:solidFill>
                <a:latin typeface="DM Sans"/>
              </a:rPr>
              <a:t>The learning loop — the course spine</a:t>
            </a:r>
          </a:p>
        </p:txBody>
      </p:sp>
      <p:sp>
        <p:nvSpPr>
          <p:cNvPr id="9" name="Oval 8"/>
          <p:cNvSpPr/>
          <p:nvPr/>
        </p:nvSpPr>
        <p:spPr>
          <a:xfrm>
            <a:off x="868680" y="2542032"/>
            <a:ext cx="1051560" cy="1051560"/>
          </a:xfrm>
          <a:prstGeom prst="ellipse">
            <a:avLst/>
          </a:prstGeom>
          <a:gradFill rotWithShape="1">
            <a:gsLst>
              <a:gs pos="0">
                <a:srgbClr val="02B896"/>
              </a:gs>
              <a:gs pos="100000">
                <a:srgbClr val="537780"/>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300" b="1" i="0">
                <a:solidFill>
                  <a:srgbClr val="FFFFFF"/>
                </a:solidFill>
                <a:latin typeface="DM Sans"/>
              </a:rPr>
              <a:t>1</a:t>
            </a:r>
          </a:p>
        </p:txBody>
      </p:sp>
      <p:sp>
        <p:nvSpPr>
          <p:cNvPr id="10" name="TextBox 9"/>
          <p:cNvSpPr txBox="1"/>
          <p:nvPr/>
        </p:nvSpPr>
        <p:spPr>
          <a:xfrm>
            <a:off x="548640" y="3648456"/>
            <a:ext cx="1691639" cy="640080"/>
          </a:xfrm>
          <a:prstGeom prst="rect">
            <a:avLst/>
          </a:prstGeom>
          <a:noFill/>
        </p:spPr>
        <p:txBody>
          <a:bodyPr wrap="square" anchor="t" lIns="0" rIns="0" tIns="0" bIns="0">
            <a:spAutoFit/>
          </a:bodyPr>
          <a:lstStyle/>
          <a:p>
            <a:pPr algn="ctr"/>
            <a:r>
              <a:rPr sz="1250" b="1" i="0">
                <a:solidFill>
                  <a:srgbClr val="00517E"/>
                </a:solidFill>
                <a:latin typeface="DM Sans"/>
              </a:rPr>
              <a:t>Set a goal</a:t>
            </a:r>
          </a:p>
        </p:txBody>
      </p:sp>
      <p:sp>
        <p:nvSpPr>
          <p:cNvPr id="11" name="TextBox 10"/>
          <p:cNvSpPr txBox="1"/>
          <p:nvPr/>
        </p:nvSpPr>
        <p:spPr>
          <a:xfrm>
            <a:off x="1920239" y="2542032"/>
            <a:ext cx="1298448" cy="1051560"/>
          </a:xfrm>
          <a:prstGeom prst="rect">
            <a:avLst/>
          </a:prstGeom>
          <a:noFill/>
        </p:spPr>
        <p:txBody>
          <a:bodyPr wrap="square" anchor="ctr" lIns="0" rIns="0" tIns="0" bIns="0">
            <a:spAutoFit/>
          </a:bodyPr>
          <a:lstStyle/>
          <a:p>
            <a:pPr algn="ctr"/>
            <a:r>
              <a:rPr sz="2000" b="1" i="0">
                <a:solidFill>
                  <a:srgbClr val="02B896"/>
                </a:solidFill>
                <a:latin typeface="DM Sans"/>
              </a:rPr>
              <a:t>→</a:t>
            </a:r>
          </a:p>
        </p:txBody>
      </p:sp>
      <p:sp>
        <p:nvSpPr>
          <p:cNvPr id="12" name="Oval 11"/>
          <p:cNvSpPr/>
          <p:nvPr/>
        </p:nvSpPr>
        <p:spPr>
          <a:xfrm>
            <a:off x="3218687" y="2542032"/>
            <a:ext cx="1051560" cy="1051560"/>
          </a:xfrm>
          <a:prstGeom prst="ellipse">
            <a:avLst/>
          </a:prstGeom>
          <a:gradFill rotWithShape="1">
            <a:gsLst>
              <a:gs pos="0">
                <a:srgbClr val="02B896"/>
              </a:gs>
              <a:gs pos="100000">
                <a:srgbClr val="537780"/>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300" b="1" i="0">
                <a:solidFill>
                  <a:srgbClr val="FFFFFF"/>
                </a:solidFill>
                <a:latin typeface="DM Sans"/>
              </a:rPr>
              <a:t>2</a:t>
            </a:r>
          </a:p>
        </p:txBody>
      </p:sp>
      <p:sp>
        <p:nvSpPr>
          <p:cNvPr id="13" name="TextBox 12"/>
          <p:cNvSpPr txBox="1"/>
          <p:nvPr/>
        </p:nvSpPr>
        <p:spPr>
          <a:xfrm>
            <a:off x="2898647" y="3648456"/>
            <a:ext cx="1691639" cy="640080"/>
          </a:xfrm>
          <a:prstGeom prst="rect">
            <a:avLst/>
          </a:prstGeom>
          <a:noFill/>
        </p:spPr>
        <p:txBody>
          <a:bodyPr wrap="square" anchor="t" lIns="0" rIns="0" tIns="0" bIns="0">
            <a:spAutoFit/>
          </a:bodyPr>
          <a:lstStyle/>
          <a:p>
            <a:pPr algn="ctr"/>
            <a:r>
              <a:rPr sz="1250" b="1" i="0">
                <a:solidFill>
                  <a:srgbClr val="00517E"/>
                </a:solidFill>
                <a:latin typeface="DM Sans"/>
              </a:rPr>
              <a:t>Let Claude try</a:t>
            </a:r>
          </a:p>
        </p:txBody>
      </p:sp>
      <p:sp>
        <p:nvSpPr>
          <p:cNvPr id="14" name="TextBox 13"/>
          <p:cNvSpPr txBox="1"/>
          <p:nvPr/>
        </p:nvSpPr>
        <p:spPr>
          <a:xfrm>
            <a:off x="4270248" y="2542032"/>
            <a:ext cx="1298448" cy="1051560"/>
          </a:xfrm>
          <a:prstGeom prst="rect">
            <a:avLst/>
          </a:prstGeom>
          <a:noFill/>
        </p:spPr>
        <p:txBody>
          <a:bodyPr wrap="square" anchor="ctr" lIns="0" rIns="0" tIns="0" bIns="0">
            <a:spAutoFit/>
          </a:bodyPr>
          <a:lstStyle/>
          <a:p>
            <a:pPr algn="ctr"/>
            <a:r>
              <a:rPr sz="2000" b="1" i="0">
                <a:solidFill>
                  <a:srgbClr val="02B896"/>
                </a:solidFill>
                <a:latin typeface="DM Sans"/>
              </a:rPr>
              <a:t>→</a:t>
            </a:r>
          </a:p>
        </p:txBody>
      </p:sp>
      <p:sp>
        <p:nvSpPr>
          <p:cNvPr id="15" name="Oval 14"/>
          <p:cNvSpPr/>
          <p:nvPr/>
        </p:nvSpPr>
        <p:spPr>
          <a:xfrm>
            <a:off x="5568696" y="2542032"/>
            <a:ext cx="1051560" cy="1051560"/>
          </a:xfrm>
          <a:prstGeom prst="ellipse">
            <a:avLst/>
          </a:prstGeom>
          <a:gradFill rotWithShape="1">
            <a:gsLst>
              <a:gs pos="0">
                <a:srgbClr val="02B896"/>
              </a:gs>
              <a:gs pos="100000">
                <a:srgbClr val="537780"/>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300" b="1" i="0">
                <a:solidFill>
                  <a:srgbClr val="FFFFFF"/>
                </a:solidFill>
                <a:latin typeface="DM Sans"/>
              </a:rPr>
              <a:t>3</a:t>
            </a:r>
          </a:p>
        </p:txBody>
      </p:sp>
      <p:sp>
        <p:nvSpPr>
          <p:cNvPr id="16" name="TextBox 15"/>
          <p:cNvSpPr txBox="1"/>
          <p:nvPr/>
        </p:nvSpPr>
        <p:spPr>
          <a:xfrm>
            <a:off x="5248656" y="3648456"/>
            <a:ext cx="1691639" cy="640080"/>
          </a:xfrm>
          <a:prstGeom prst="rect">
            <a:avLst/>
          </a:prstGeom>
          <a:noFill/>
        </p:spPr>
        <p:txBody>
          <a:bodyPr wrap="square" anchor="t" lIns="0" rIns="0" tIns="0" bIns="0">
            <a:spAutoFit/>
          </a:bodyPr>
          <a:lstStyle/>
          <a:p>
            <a:pPr algn="ctr"/>
            <a:r>
              <a:rPr sz="1250" b="1" i="0">
                <a:solidFill>
                  <a:srgbClr val="00517E"/>
                </a:solidFill>
                <a:latin typeface="DM Sans"/>
              </a:rPr>
              <a:t>Learn from the error</a:t>
            </a:r>
          </a:p>
        </p:txBody>
      </p:sp>
      <p:sp>
        <p:nvSpPr>
          <p:cNvPr id="17" name="TextBox 16"/>
          <p:cNvSpPr txBox="1"/>
          <p:nvPr/>
        </p:nvSpPr>
        <p:spPr>
          <a:xfrm>
            <a:off x="6620256" y="2542032"/>
            <a:ext cx="1298448" cy="1051560"/>
          </a:xfrm>
          <a:prstGeom prst="rect">
            <a:avLst/>
          </a:prstGeom>
          <a:noFill/>
        </p:spPr>
        <p:txBody>
          <a:bodyPr wrap="square" anchor="ctr" lIns="0" rIns="0" tIns="0" bIns="0">
            <a:spAutoFit/>
          </a:bodyPr>
          <a:lstStyle/>
          <a:p>
            <a:pPr algn="ctr"/>
            <a:r>
              <a:rPr sz="2000" b="1" i="0">
                <a:solidFill>
                  <a:srgbClr val="02B896"/>
                </a:solidFill>
                <a:latin typeface="DM Sans"/>
              </a:rPr>
              <a:t>→</a:t>
            </a:r>
          </a:p>
        </p:txBody>
      </p:sp>
      <p:sp>
        <p:nvSpPr>
          <p:cNvPr id="18" name="Oval 17"/>
          <p:cNvSpPr/>
          <p:nvPr/>
        </p:nvSpPr>
        <p:spPr>
          <a:xfrm>
            <a:off x="7918703" y="2542032"/>
            <a:ext cx="1051560" cy="1051560"/>
          </a:xfrm>
          <a:prstGeom prst="ellipse">
            <a:avLst/>
          </a:prstGeom>
          <a:gradFill rotWithShape="1">
            <a:gsLst>
              <a:gs pos="0">
                <a:srgbClr val="02B896"/>
              </a:gs>
              <a:gs pos="100000">
                <a:srgbClr val="537780"/>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300" b="1" i="0">
                <a:solidFill>
                  <a:srgbClr val="FFFFFF"/>
                </a:solidFill>
                <a:latin typeface="DM Sans"/>
              </a:rPr>
              <a:t>4</a:t>
            </a:r>
          </a:p>
        </p:txBody>
      </p:sp>
      <p:sp>
        <p:nvSpPr>
          <p:cNvPr id="19" name="TextBox 18"/>
          <p:cNvSpPr txBox="1"/>
          <p:nvPr/>
        </p:nvSpPr>
        <p:spPr>
          <a:xfrm>
            <a:off x="7598663" y="3648456"/>
            <a:ext cx="1691639" cy="640080"/>
          </a:xfrm>
          <a:prstGeom prst="rect">
            <a:avLst/>
          </a:prstGeom>
          <a:noFill/>
        </p:spPr>
        <p:txBody>
          <a:bodyPr wrap="square" anchor="t" lIns="0" rIns="0" tIns="0" bIns="0">
            <a:spAutoFit/>
          </a:bodyPr>
          <a:lstStyle/>
          <a:p>
            <a:pPr algn="ctr"/>
            <a:r>
              <a:rPr sz="1250" b="1" i="0">
                <a:solidFill>
                  <a:srgbClr val="00517E"/>
                </a:solidFill>
                <a:latin typeface="DM Sans"/>
              </a:rPr>
              <a:t>Save as a skill</a:t>
            </a:r>
          </a:p>
        </p:txBody>
      </p:sp>
      <p:sp>
        <p:nvSpPr>
          <p:cNvPr id="20" name="Circular Arrow 19"/>
          <p:cNvSpPr/>
          <p:nvPr/>
        </p:nvSpPr>
        <p:spPr>
          <a:xfrm>
            <a:off x="9281160" y="2670048"/>
            <a:ext cx="768096" cy="768096"/>
          </a:xfrm>
          <a:prstGeom prst="circularArrow">
            <a:avLst/>
          </a:prstGeom>
          <a:gradFill rotWithShape="1">
            <a:gsLst>
              <a:gs pos="0">
                <a:srgbClr val="02B896"/>
              </a:gs>
              <a:gs pos="100000">
                <a:srgbClr val="537780"/>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88552" y="3648456"/>
            <a:ext cx="1371600" cy="548640"/>
          </a:xfrm>
          <a:prstGeom prst="rect">
            <a:avLst/>
          </a:prstGeom>
          <a:noFill/>
        </p:spPr>
        <p:txBody>
          <a:bodyPr wrap="square" anchor="t" lIns="0" rIns="0" tIns="0" bIns="0">
            <a:spAutoFit/>
          </a:bodyPr>
          <a:lstStyle/>
          <a:p>
            <a:pPr algn="ctr"/>
            <a:r>
              <a:rPr sz="1250" b="1" i="0">
                <a:solidFill>
                  <a:srgbClr val="00517E"/>
                </a:solidFill>
                <a:latin typeface="DM Sans"/>
              </a:rPr>
              <a:t>and repeat</a:t>
            </a:r>
          </a:p>
        </p:txBody>
      </p:sp>
      <p:sp>
        <p:nvSpPr>
          <p:cNvPr id="22" name="TextBox 21"/>
          <p:cNvSpPr txBox="1"/>
          <p:nvPr/>
        </p:nvSpPr>
        <p:spPr>
          <a:xfrm>
            <a:off x="822960" y="4389120"/>
            <a:ext cx="10515600" cy="365760"/>
          </a:xfrm>
          <a:prstGeom prst="rect">
            <a:avLst/>
          </a:prstGeom>
          <a:noFill/>
        </p:spPr>
        <p:txBody>
          <a:bodyPr wrap="square" anchor="t" lIns="0" rIns="0" tIns="0" bIns="0">
            <a:spAutoFit/>
          </a:bodyPr>
          <a:lstStyle/>
          <a:p>
            <a:pPr algn="l"/>
            <a:r>
              <a:rPr sz="1500" b="1" i="0">
                <a:solidFill>
                  <a:srgbClr val="537780"/>
                </a:solidFill>
                <a:latin typeface="DM Sans"/>
              </a:rPr>
              <a:t>One stance, six threads</a:t>
            </a:r>
          </a:p>
        </p:txBody>
      </p:sp>
      <p:sp>
        <p:nvSpPr>
          <p:cNvPr id="23" name="Rounded Rectangle 22"/>
          <p:cNvSpPr/>
          <p:nvPr/>
        </p:nvSpPr>
        <p:spPr>
          <a:xfrm>
            <a:off x="822960" y="4736592"/>
            <a:ext cx="10506456" cy="438912"/>
          </a:xfrm>
          <a:prstGeom prst="roundRect">
            <a:avLst>
              <a:gd name="adj" fmla="val 50000"/>
            </a:avLst>
          </a:prstGeom>
          <a:gradFill rotWithShape="1">
            <a:gsLst>
              <a:gs pos="0">
                <a:srgbClr val="02B896"/>
              </a:gs>
              <a:gs pos="100000">
                <a:srgbClr val="53778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200" b="1" i="0">
                <a:solidFill>
                  <a:srgbClr val="FFFFFF"/>
                </a:solidFill>
                <a:latin typeface="DM Sans"/>
              </a:rPr>
              <a:t>A co-worker, not just a tool — you delegate the work, then verify it</a:t>
            </a:r>
          </a:p>
        </p:txBody>
      </p:sp>
      <p:sp>
        <p:nvSpPr>
          <p:cNvPr id="24" name="Rounded Rectangle 23"/>
          <p:cNvSpPr/>
          <p:nvPr/>
        </p:nvSpPr>
        <p:spPr>
          <a:xfrm>
            <a:off x="822960" y="5303520"/>
            <a:ext cx="3319272" cy="457200"/>
          </a:xfrm>
          <a:prstGeom prst="roundRect">
            <a:avLst>
              <a:gd name="adj" fmla="val 50000"/>
            </a:avLst>
          </a:prstGeom>
          <a:solidFill>
            <a:srgbClr val="E6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00517E"/>
                </a:solidFill>
                <a:latin typeface="DM Sans"/>
              </a:rPr>
              <a:t>Rely on Claude, but verify</a:t>
            </a:r>
          </a:p>
        </p:txBody>
      </p:sp>
      <p:sp>
        <p:nvSpPr>
          <p:cNvPr id="25" name="Rounded Rectangle 24"/>
          <p:cNvSpPr/>
          <p:nvPr/>
        </p:nvSpPr>
        <p:spPr>
          <a:xfrm>
            <a:off x="4416552" y="5303520"/>
            <a:ext cx="3319272" cy="457200"/>
          </a:xfrm>
          <a:prstGeom prst="roundRect">
            <a:avLst>
              <a:gd name="adj" fmla="val 50000"/>
            </a:avLst>
          </a:prstGeom>
          <a:solidFill>
            <a:srgbClr val="E6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00517E"/>
                </a:solidFill>
                <a:latin typeface="DM Sans"/>
              </a:rPr>
              <a:t>Review before running</a:t>
            </a:r>
          </a:p>
        </p:txBody>
      </p:sp>
      <p:sp>
        <p:nvSpPr>
          <p:cNvPr id="26" name="Rounded Rectangle 25"/>
          <p:cNvSpPr/>
          <p:nvPr/>
        </p:nvSpPr>
        <p:spPr>
          <a:xfrm>
            <a:off x="8010144" y="5303520"/>
            <a:ext cx="3319272" cy="457200"/>
          </a:xfrm>
          <a:prstGeom prst="roundRect">
            <a:avLst>
              <a:gd name="adj" fmla="val 50000"/>
            </a:avLst>
          </a:prstGeom>
          <a:solidFill>
            <a:srgbClr val="E6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00517E"/>
                </a:solidFill>
                <a:latin typeface="DM Sans"/>
              </a:rPr>
              <a:t>Read versus change</a:t>
            </a:r>
          </a:p>
        </p:txBody>
      </p:sp>
      <p:sp>
        <p:nvSpPr>
          <p:cNvPr id="27" name="Rounded Rectangle 26"/>
          <p:cNvSpPr/>
          <p:nvPr/>
        </p:nvSpPr>
        <p:spPr>
          <a:xfrm>
            <a:off x="822960" y="5833872"/>
            <a:ext cx="3319272" cy="457200"/>
          </a:xfrm>
          <a:prstGeom prst="roundRect">
            <a:avLst>
              <a:gd name="adj" fmla="val 50000"/>
            </a:avLst>
          </a:prstGeom>
          <a:solidFill>
            <a:srgbClr val="E6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00517E"/>
                </a:solidFill>
                <a:latin typeface="DM Sans"/>
              </a:rPr>
              <a:t>Cost, clean-up &amp; RBAC</a:t>
            </a:r>
          </a:p>
        </p:txBody>
      </p:sp>
      <p:sp>
        <p:nvSpPr>
          <p:cNvPr id="28" name="Rounded Rectangle 27"/>
          <p:cNvSpPr/>
          <p:nvPr/>
        </p:nvSpPr>
        <p:spPr>
          <a:xfrm>
            <a:off x="4416552" y="5833872"/>
            <a:ext cx="3319272" cy="457200"/>
          </a:xfrm>
          <a:prstGeom prst="roundRect">
            <a:avLst>
              <a:gd name="adj" fmla="val 50000"/>
            </a:avLst>
          </a:prstGeom>
          <a:solidFill>
            <a:srgbClr val="E6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00517E"/>
                </a:solidFill>
                <a:latin typeface="DM Sans"/>
              </a:rPr>
              <a:t>Document every change</a:t>
            </a:r>
          </a:p>
        </p:txBody>
      </p:sp>
      <p:sp>
        <p:nvSpPr>
          <p:cNvPr id="29" name="Rounded Rectangle 28"/>
          <p:cNvSpPr/>
          <p:nvPr/>
        </p:nvSpPr>
        <p:spPr>
          <a:xfrm>
            <a:off x="8010144" y="5833872"/>
            <a:ext cx="3319272" cy="457200"/>
          </a:xfrm>
          <a:prstGeom prst="roundRect">
            <a:avLst>
              <a:gd name="adj" fmla="val 50000"/>
            </a:avLst>
          </a:prstGeom>
          <a:solidFill>
            <a:srgbClr val="E6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00517E"/>
                </a:solidFill>
                <a:latin typeface="DM Sans"/>
              </a:rPr>
              <a:t>Authentication &amp; identity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ccent-ligh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46304" cy="6858000"/>
          </a:xfrm>
          <a:prstGeom prst="rect">
            <a:avLst/>
          </a:prstGeom>
          <a:solidFill>
            <a:srgbClr val="02B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058400" cy="320040"/>
          </a:xfrm>
          <a:prstGeom prst="rect">
            <a:avLst/>
          </a:prstGeom>
          <a:noFill/>
        </p:spPr>
        <p:txBody>
          <a:bodyPr wrap="square" anchor="t" lIns="0" rIns="0" tIns="0" bIns="0">
            <a:spAutoFit/>
          </a:bodyPr>
          <a:lstStyle/>
          <a:p>
            <a:pPr algn="l"/>
            <a:r>
              <a:rPr sz="1250" b="1" i="0" spc="180">
                <a:solidFill>
                  <a:srgbClr val="02B896"/>
                </a:solidFill>
                <a:latin typeface="DM Sans"/>
              </a:rPr>
              <a:t>CHAPTER 6</a:t>
            </a:r>
          </a:p>
        </p:txBody>
      </p:sp>
      <p:sp>
        <p:nvSpPr>
          <p:cNvPr id="5" name="TextBox 4"/>
          <p:cNvSpPr txBox="1"/>
          <p:nvPr/>
        </p:nvSpPr>
        <p:spPr>
          <a:xfrm>
            <a:off x="822960" y="886968"/>
            <a:ext cx="10698480" cy="868680"/>
          </a:xfrm>
          <a:prstGeom prst="rect">
            <a:avLst/>
          </a:prstGeom>
          <a:noFill/>
        </p:spPr>
        <p:txBody>
          <a:bodyPr wrap="square" anchor="t" lIns="0" rIns="0" tIns="0" bIns="0">
            <a:spAutoFit/>
          </a:bodyPr>
          <a:lstStyle/>
          <a:p>
            <a:pPr algn="l"/>
            <a:r>
              <a:rPr sz="3100" b="1" i="0">
                <a:solidFill>
                  <a:srgbClr val="00517E"/>
                </a:solidFill>
                <a:latin typeface="DM Sans"/>
              </a:rPr>
              <a:t>End-to-end testing with Playwright</a:t>
            </a:r>
          </a:p>
        </p:txBody>
      </p:sp>
      <p:sp>
        <p:nvSpPr>
          <p:cNvPr id="6" name="TextBox 5"/>
          <p:cNvSpPr txBox="1"/>
          <p:nvPr/>
        </p:nvSpPr>
        <p:spPr>
          <a:xfrm>
            <a:off x="822960" y="6428232"/>
            <a:ext cx="6858000" cy="310896"/>
          </a:xfrm>
          <a:prstGeom prst="rect">
            <a:avLst/>
          </a:prstGeom>
          <a:noFill/>
        </p:spPr>
        <p:txBody>
          <a:bodyPr wrap="square" anchor="t" lIns="0" rIns="0" tIns="0" bIns="0">
            <a:spAutoFit/>
          </a:bodyPr>
          <a:lstStyle/>
          <a:p>
            <a:pPr algn="l"/>
            <a:r>
              <a:rPr sz="1200" b="0" i="0">
                <a:solidFill>
                  <a:srgbClr val="888888"/>
                </a:solidFill>
                <a:latin typeface="DM Sans"/>
              </a:rPr>
              <a:t>Manage Azure with Claude Code</a:t>
            </a:r>
          </a:p>
        </p:txBody>
      </p:sp>
      <p:sp>
        <p:nvSpPr>
          <p:cNvPr id="7" name="TextBox 6"/>
          <p:cNvSpPr txBox="1"/>
          <p:nvPr/>
        </p:nvSpPr>
        <p:spPr>
          <a:xfrm>
            <a:off x="7863840" y="6428232"/>
            <a:ext cx="3502152" cy="310896"/>
          </a:xfrm>
          <a:prstGeom prst="rect">
            <a:avLst/>
          </a:prstGeom>
          <a:noFill/>
        </p:spPr>
        <p:txBody>
          <a:bodyPr wrap="square" anchor="t" lIns="0" rIns="0" tIns="0" bIns="0">
            <a:spAutoFit/>
          </a:bodyPr>
          <a:lstStyle/>
          <a:p>
            <a:pPr algn="r"/>
            <a:r>
              <a:rPr sz="1200" b="1" i="0">
                <a:solidFill>
                  <a:srgbClr val="537780"/>
                </a:solidFill>
                <a:latin typeface="DM Sans"/>
              </a:rPr>
              <a:t>Langate   ·   7</a:t>
            </a:r>
          </a:p>
        </p:txBody>
      </p:sp>
      <p:sp>
        <p:nvSpPr>
          <p:cNvPr id="8" name="TextBox 7"/>
          <p:cNvSpPr txBox="1"/>
          <p:nvPr/>
        </p:nvSpPr>
        <p:spPr>
          <a:xfrm>
            <a:off x="822960" y="2084831"/>
            <a:ext cx="10515600" cy="457200"/>
          </a:xfrm>
          <a:prstGeom prst="rect">
            <a:avLst/>
          </a:prstGeom>
          <a:noFill/>
        </p:spPr>
        <p:txBody>
          <a:bodyPr wrap="square" anchor="t" lIns="0" rIns="0" tIns="0" bIns="0">
            <a:spAutoFit/>
          </a:bodyPr>
          <a:lstStyle/>
          <a:p>
            <a:pPr algn="l"/>
            <a:r>
              <a:rPr sz="1700" b="0" i="0">
                <a:solidFill>
                  <a:srgbClr val="4A4A4A"/>
                </a:solidFill>
                <a:latin typeface="DM Sans"/>
              </a:rPr>
              <a:t>Rely on Claude, but </a:t>
            </a:r>
            <a:r>
              <a:rPr sz="1700" b="1" i="0">
                <a:solidFill>
                  <a:srgbClr val="02B896"/>
                </a:solidFill>
                <a:latin typeface="DM Sans"/>
              </a:rPr>
              <a:t>verify</a:t>
            </a:r>
            <a:r>
              <a:rPr sz="1700" b="0" i="0">
                <a:solidFill>
                  <a:srgbClr val="4A4A4A"/>
                </a:solidFill>
                <a:latin typeface="DM Sans"/>
              </a:rPr>
              <a:t> — by hand and automatically.</a:t>
            </a:r>
          </a:p>
        </p:txBody>
      </p:sp>
      <p:sp>
        <p:nvSpPr>
          <p:cNvPr id="9" name="Rectangle 8"/>
          <p:cNvSpPr/>
          <p:nvPr/>
        </p:nvSpPr>
        <p:spPr>
          <a:xfrm>
            <a:off x="822960" y="2697480"/>
            <a:ext cx="5120640" cy="2331720"/>
          </a:xfrm>
          <a:prstGeom prst="rect">
            <a:avLst/>
          </a:prstGeom>
          <a:solidFill>
            <a:srgbClr val="EB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697480"/>
            <a:ext cx="5120640" cy="100584"/>
          </a:xfrm>
          <a:prstGeom prst="rect">
            <a:avLst/>
          </a:prstGeom>
          <a:solidFill>
            <a:srgbClr val="005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zure-blue.png"/>
          <p:cNvPicPr>
            <a:picLocks noChangeAspect="1"/>
          </p:cNvPicPr>
          <p:nvPr/>
        </p:nvPicPr>
        <p:blipFill>
          <a:blip r:embed="rId3"/>
          <a:stretch>
            <a:fillRect/>
          </a:stretch>
        </p:blipFill>
        <p:spPr>
          <a:xfrm>
            <a:off x="5047488" y="3017520"/>
            <a:ext cx="566928" cy="566928"/>
          </a:xfrm>
          <a:prstGeom prst="rect">
            <a:avLst/>
          </a:prstGeom>
        </p:spPr>
      </p:pic>
      <p:sp>
        <p:nvSpPr>
          <p:cNvPr id="12" name="TextBox 11"/>
          <p:cNvSpPr txBox="1"/>
          <p:nvPr/>
        </p:nvSpPr>
        <p:spPr>
          <a:xfrm>
            <a:off x="1143000" y="2999232"/>
            <a:ext cx="3657600" cy="640080"/>
          </a:xfrm>
          <a:prstGeom prst="rect">
            <a:avLst/>
          </a:prstGeom>
          <a:noFill/>
        </p:spPr>
        <p:txBody>
          <a:bodyPr wrap="square" anchor="t" lIns="0" rIns="0" tIns="0" bIns="0">
            <a:spAutoFit/>
          </a:bodyPr>
          <a:lstStyle/>
          <a:p>
            <a:pPr algn="l"/>
            <a:r>
              <a:rPr sz="2400" b="1" i="0">
                <a:solidFill>
                  <a:srgbClr val="00517E"/>
                </a:solidFill>
                <a:latin typeface="DM Sans"/>
              </a:rPr>
              <a:t>“Succeeded”</a:t>
            </a:r>
          </a:p>
        </p:txBody>
      </p:sp>
      <p:sp>
        <p:nvSpPr>
          <p:cNvPr id="13" name="TextBox 12"/>
          <p:cNvSpPr txBox="1"/>
          <p:nvPr/>
        </p:nvSpPr>
        <p:spPr>
          <a:xfrm>
            <a:off x="1143000" y="3675887"/>
            <a:ext cx="4480560" cy="365760"/>
          </a:xfrm>
          <a:prstGeom prst="rect">
            <a:avLst/>
          </a:prstGeom>
          <a:noFill/>
        </p:spPr>
        <p:txBody>
          <a:bodyPr wrap="square" anchor="t" lIns="0" rIns="0" tIns="0" bIns="0">
            <a:spAutoFit/>
          </a:bodyPr>
          <a:lstStyle/>
          <a:p>
            <a:pPr algn="l"/>
            <a:r>
              <a:rPr sz="1250" b="0" i="1">
                <a:solidFill>
                  <a:srgbClr val="888888"/>
                </a:solidFill>
                <a:latin typeface="DM Sans"/>
              </a:rPr>
              <a:t>Azure's word</a:t>
            </a:r>
          </a:p>
        </p:txBody>
      </p:sp>
      <p:sp>
        <p:nvSpPr>
          <p:cNvPr id="14" name="TextBox 13"/>
          <p:cNvSpPr txBox="1"/>
          <p:nvPr/>
        </p:nvSpPr>
        <p:spPr>
          <a:xfrm>
            <a:off x="1143000" y="4096512"/>
            <a:ext cx="4480560" cy="822960"/>
          </a:xfrm>
          <a:prstGeom prst="rect">
            <a:avLst/>
          </a:prstGeom>
          <a:noFill/>
        </p:spPr>
        <p:txBody>
          <a:bodyPr wrap="square" anchor="t" lIns="0" rIns="0" tIns="0" bIns="0">
            <a:spAutoFit/>
          </a:bodyPr>
          <a:lstStyle/>
          <a:p>
            <a:pPr algn="l"/>
            <a:r>
              <a:rPr sz="1400" b="0" i="0">
                <a:solidFill>
                  <a:srgbClr val="4A4A4A"/>
                </a:solidFill>
                <a:latin typeface="DM Sans"/>
              </a:rPr>
              <a:t>The resource was created. Nothing more.</a:t>
            </a:r>
          </a:p>
        </p:txBody>
      </p:sp>
      <p:sp>
        <p:nvSpPr>
          <p:cNvPr id="15" name="Rectangle 14"/>
          <p:cNvSpPr/>
          <p:nvPr/>
        </p:nvSpPr>
        <p:spPr>
          <a:xfrm>
            <a:off x="6245352" y="2697480"/>
            <a:ext cx="5120640" cy="2331720"/>
          </a:xfrm>
          <a:prstGeom prst="rect">
            <a:avLst/>
          </a:prstGeom>
          <a:solidFill>
            <a:srgbClr val="E6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45352" y="2697480"/>
            <a:ext cx="5120640" cy="100584"/>
          </a:xfrm>
          <a:prstGeom prst="rect">
            <a:avLst/>
          </a:prstGeom>
          <a:solidFill>
            <a:srgbClr val="02B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laywright-blue.png"/>
          <p:cNvPicPr>
            <a:picLocks noChangeAspect="1"/>
          </p:cNvPicPr>
          <p:nvPr/>
        </p:nvPicPr>
        <p:blipFill>
          <a:blip r:embed="rId4"/>
          <a:stretch>
            <a:fillRect/>
          </a:stretch>
        </p:blipFill>
        <p:spPr>
          <a:xfrm>
            <a:off x="10469880" y="3017520"/>
            <a:ext cx="566928" cy="566928"/>
          </a:xfrm>
          <a:prstGeom prst="rect">
            <a:avLst/>
          </a:prstGeom>
        </p:spPr>
      </p:pic>
      <p:sp>
        <p:nvSpPr>
          <p:cNvPr id="18" name="TextBox 17"/>
          <p:cNvSpPr txBox="1"/>
          <p:nvPr/>
        </p:nvSpPr>
        <p:spPr>
          <a:xfrm>
            <a:off x="6565392" y="2999232"/>
            <a:ext cx="3657600" cy="640080"/>
          </a:xfrm>
          <a:prstGeom prst="rect">
            <a:avLst/>
          </a:prstGeom>
          <a:noFill/>
        </p:spPr>
        <p:txBody>
          <a:bodyPr wrap="square" anchor="t" lIns="0" rIns="0" tIns="0" bIns="0">
            <a:spAutoFit/>
          </a:bodyPr>
          <a:lstStyle/>
          <a:p>
            <a:pPr algn="l"/>
            <a:r>
              <a:rPr sz="2400" b="1" i="0">
                <a:solidFill>
                  <a:srgbClr val="02B896"/>
                </a:solidFill>
                <a:latin typeface="DM Sans"/>
              </a:rPr>
              <a:t>A green test</a:t>
            </a:r>
          </a:p>
        </p:txBody>
      </p:sp>
      <p:sp>
        <p:nvSpPr>
          <p:cNvPr id="19" name="TextBox 18"/>
          <p:cNvSpPr txBox="1"/>
          <p:nvPr/>
        </p:nvSpPr>
        <p:spPr>
          <a:xfrm>
            <a:off x="6565392" y="3675887"/>
            <a:ext cx="4480560" cy="365760"/>
          </a:xfrm>
          <a:prstGeom prst="rect">
            <a:avLst/>
          </a:prstGeom>
          <a:noFill/>
        </p:spPr>
        <p:txBody>
          <a:bodyPr wrap="square" anchor="t" lIns="0" rIns="0" tIns="0" bIns="0">
            <a:spAutoFit/>
          </a:bodyPr>
          <a:lstStyle/>
          <a:p>
            <a:pPr algn="l"/>
            <a:r>
              <a:rPr sz="1250" b="0" i="1">
                <a:solidFill>
                  <a:srgbClr val="888888"/>
                </a:solidFill>
                <a:latin typeface="DM Sans"/>
              </a:rPr>
              <a:t>Playwright's proof</a:t>
            </a:r>
          </a:p>
        </p:txBody>
      </p:sp>
      <p:sp>
        <p:nvSpPr>
          <p:cNvPr id="20" name="TextBox 19"/>
          <p:cNvSpPr txBox="1"/>
          <p:nvPr/>
        </p:nvSpPr>
        <p:spPr>
          <a:xfrm>
            <a:off x="6565392" y="4096512"/>
            <a:ext cx="4480560" cy="822960"/>
          </a:xfrm>
          <a:prstGeom prst="rect">
            <a:avLst/>
          </a:prstGeom>
          <a:noFill/>
        </p:spPr>
        <p:txBody>
          <a:bodyPr wrap="square" anchor="t" lIns="0" rIns="0" tIns="0" bIns="0">
            <a:spAutoFit/>
          </a:bodyPr>
          <a:lstStyle/>
          <a:p>
            <a:pPr algn="l"/>
            <a:r>
              <a:rPr sz="1400" b="0" i="0">
                <a:solidFill>
                  <a:srgbClr val="4A4A4A"/>
                </a:solidFill>
                <a:latin typeface="DM Sans"/>
              </a:rPr>
              <a:t>A real user flow works, end to end.</a:t>
            </a:r>
          </a:p>
        </p:txBody>
      </p:sp>
      <p:sp>
        <p:nvSpPr>
          <p:cNvPr id="21" name="Oval 20"/>
          <p:cNvSpPr/>
          <p:nvPr/>
        </p:nvSpPr>
        <p:spPr>
          <a:xfrm>
            <a:off x="10588752" y="4315968"/>
            <a:ext cx="475488" cy="475488"/>
          </a:xfrm>
          <a:prstGeom prst="ellipse">
            <a:avLst/>
          </a:prstGeom>
          <a:solidFill>
            <a:srgbClr val="02B8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i="0">
                <a:solidFill>
                  <a:srgbClr val="FFFFFF"/>
                </a:solidFill>
                <a:latin typeface="Segoe UI Symbol"/>
              </a:rPr>
              <a:t>✓</a:t>
            </a:r>
          </a:p>
        </p:txBody>
      </p:sp>
      <p:sp>
        <p:nvSpPr>
          <p:cNvPr id="22" name="Rounded Rectangle 21"/>
          <p:cNvSpPr/>
          <p:nvPr/>
        </p:nvSpPr>
        <p:spPr>
          <a:xfrm>
            <a:off x="822960" y="5285232"/>
            <a:ext cx="10506456" cy="731520"/>
          </a:xfrm>
          <a:prstGeom prst="roundRect">
            <a:avLst>
              <a:gd name="adj" fmla="val 12000"/>
            </a:avLst>
          </a:prstGeom>
          <a:solidFill>
            <a:srgbClr val="E6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43000" y="5285232"/>
            <a:ext cx="9866376" cy="731520"/>
          </a:xfrm>
          <a:prstGeom prst="rect">
            <a:avLst/>
          </a:prstGeom>
          <a:noFill/>
        </p:spPr>
        <p:txBody>
          <a:bodyPr wrap="square" anchor="ctr" lIns="0" rIns="0" tIns="0" bIns="0">
            <a:spAutoFit/>
          </a:bodyPr>
          <a:lstStyle/>
          <a:p>
            <a:pPr algn="l">
              <a:spcAft>
                <a:spcPts val="300"/>
              </a:spcAft>
            </a:pPr>
            <a:r>
              <a:rPr sz="1300" b="1" i="0">
                <a:solidFill>
                  <a:srgbClr val="00517E"/>
                </a:solidFill>
                <a:latin typeface="DM Sans"/>
              </a:rPr>
              <a:t>Playwright — Microsoft's cross-browser tool. Claude writes and runs it; a critical sub-agent reviews the 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ccent-ligh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46304" cy="6858000"/>
          </a:xfrm>
          <a:prstGeom prst="rect">
            <a:avLst/>
          </a:prstGeom>
          <a:solidFill>
            <a:srgbClr val="02B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058400" cy="320040"/>
          </a:xfrm>
          <a:prstGeom prst="rect">
            <a:avLst/>
          </a:prstGeom>
          <a:noFill/>
        </p:spPr>
        <p:txBody>
          <a:bodyPr wrap="square" anchor="t" lIns="0" rIns="0" tIns="0" bIns="0">
            <a:spAutoFit/>
          </a:bodyPr>
          <a:lstStyle/>
          <a:p>
            <a:pPr algn="l"/>
            <a:r>
              <a:rPr sz="1250" b="1" i="0" spc="180">
                <a:solidFill>
                  <a:srgbClr val="02B896"/>
                </a:solidFill>
                <a:latin typeface="DM Sans"/>
              </a:rPr>
              <a:t>CHAPTER 7</a:t>
            </a:r>
          </a:p>
        </p:txBody>
      </p:sp>
      <p:sp>
        <p:nvSpPr>
          <p:cNvPr id="5" name="TextBox 4"/>
          <p:cNvSpPr txBox="1"/>
          <p:nvPr/>
        </p:nvSpPr>
        <p:spPr>
          <a:xfrm>
            <a:off x="822960" y="886968"/>
            <a:ext cx="10698480" cy="868680"/>
          </a:xfrm>
          <a:prstGeom prst="rect">
            <a:avLst/>
          </a:prstGeom>
          <a:noFill/>
        </p:spPr>
        <p:txBody>
          <a:bodyPr wrap="square" anchor="t" lIns="0" rIns="0" tIns="0" bIns="0">
            <a:spAutoFit/>
          </a:bodyPr>
          <a:lstStyle/>
          <a:p>
            <a:pPr algn="l"/>
            <a:r>
              <a:rPr sz="3100" b="1" i="0">
                <a:solidFill>
                  <a:srgbClr val="00517E"/>
                </a:solidFill>
                <a:latin typeface="DM Sans"/>
              </a:rPr>
              <a:t>Topic coverage</a:t>
            </a:r>
          </a:p>
        </p:txBody>
      </p:sp>
      <p:sp>
        <p:nvSpPr>
          <p:cNvPr id="6" name="TextBox 5"/>
          <p:cNvSpPr txBox="1"/>
          <p:nvPr/>
        </p:nvSpPr>
        <p:spPr>
          <a:xfrm>
            <a:off x="822960" y="6428232"/>
            <a:ext cx="6858000" cy="310896"/>
          </a:xfrm>
          <a:prstGeom prst="rect">
            <a:avLst/>
          </a:prstGeom>
          <a:noFill/>
        </p:spPr>
        <p:txBody>
          <a:bodyPr wrap="square" anchor="t" lIns="0" rIns="0" tIns="0" bIns="0">
            <a:spAutoFit/>
          </a:bodyPr>
          <a:lstStyle/>
          <a:p>
            <a:pPr algn="l"/>
            <a:r>
              <a:rPr sz="1200" b="0" i="0">
                <a:solidFill>
                  <a:srgbClr val="888888"/>
                </a:solidFill>
                <a:latin typeface="DM Sans"/>
              </a:rPr>
              <a:t>Manage Azure with Claude Code</a:t>
            </a:r>
          </a:p>
        </p:txBody>
      </p:sp>
      <p:sp>
        <p:nvSpPr>
          <p:cNvPr id="7" name="TextBox 6"/>
          <p:cNvSpPr txBox="1"/>
          <p:nvPr/>
        </p:nvSpPr>
        <p:spPr>
          <a:xfrm>
            <a:off x="7863840" y="6428232"/>
            <a:ext cx="3502152" cy="310896"/>
          </a:xfrm>
          <a:prstGeom prst="rect">
            <a:avLst/>
          </a:prstGeom>
          <a:noFill/>
        </p:spPr>
        <p:txBody>
          <a:bodyPr wrap="square" anchor="t" lIns="0" rIns="0" tIns="0" bIns="0">
            <a:spAutoFit/>
          </a:bodyPr>
          <a:lstStyle/>
          <a:p>
            <a:pPr algn="r"/>
            <a:r>
              <a:rPr sz="1200" b="1" i="0">
                <a:solidFill>
                  <a:srgbClr val="537780"/>
                </a:solidFill>
                <a:latin typeface="DM Sans"/>
              </a:rPr>
              <a:t>Langate   ·   8</a:t>
            </a:r>
          </a:p>
        </p:txBody>
      </p:sp>
      <p:sp>
        <p:nvSpPr>
          <p:cNvPr id="8" name="Rectangle 7"/>
          <p:cNvSpPr/>
          <p:nvPr/>
        </p:nvSpPr>
        <p:spPr>
          <a:xfrm>
            <a:off x="841248" y="2103120"/>
            <a:ext cx="274320" cy="155448"/>
          </a:xfrm>
          <a:prstGeom prst="rect">
            <a:avLst/>
          </a:prstGeom>
          <a:solidFill>
            <a:srgbClr val="02B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25296" y="2048256"/>
            <a:ext cx="10058400" cy="320040"/>
          </a:xfrm>
          <a:prstGeom prst="rect">
            <a:avLst/>
          </a:prstGeom>
          <a:noFill/>
        </p:spPr>
        <p:txBody>
          <a:bodyPr wrap="square" anchor="t" lIns="0" rIns="0" tIns="0" bIns="0">
            <a:spAutoFit/>
          </a:bodyPr>
          <a:lstStyle/>
          <a:p>
            <a:pPr algn="l"/>
            <a:r>
              <a:rPr sz="1200" b="1" i="0" spc="160">
                <a:solidFill>
                  <a:srgbClr val="02B896"/>
                </a:solidFill>
                <a:latin typeface="DM Sans"/>
              </a:rPr>
              <a:t>THE RUNNING ORDER</a:t>
            </a:r>
          </a:p>
        </p:txBody>
      </p:sp>
      <p:sp>
        <p:nvSpPr>
          <p:cNvPr id="10" name="Rounded Rectangle 9"/>
          <p:cNvSpPr/>
          <p:nvPr/>
        </p:nvSpPr>
        <p:spPr>
          <a:xfrm>
            <a:off x="819759" y="2487168"/>
            <a:ext cx="2432304" cy="548640"/>
          </a:xfrm>
          <a:prstGeom prst="roundRect">
            <a:avLst>
              <a:gd name="adj" fmla="val 50000"/>
            </a:avLst>
          </a:prstGeom>
          <a:gradFill rotWithShape="1">
            <a:gsLst>
              <a:gs pos="0">
                <a:srgbClr val="02B896"/>
              </a:gs>
              <a:gs pos="100000">
                <a:srgbClr val="53778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Compute</a:t>
            </a:r>
          </a:p>
        </p:txBody>
      </p:sp>
      <p:sp>
        <p:nvSpPr>
          <p:cNvPr id="11" name="Rounded Rectangle 10"/>
          <p:cNvSpPr/>
          <p:nvPr/>
        </p:nvSpPr>
        <p:spPr>
          <a:xfrm>
            <a:off x="3526383" y="2487168"/>
            <a:ext cx="2432304" cy="548640"/>
          </a:xfrm>
          <a:prstGeom prst="roundRect">
            <a:avLst>
              <a:gd name="adj" fmla="val 50000"/>
            </a:avLst>
          </a:prstGeom>
          <a:gradFill rotWithShape="1">
            <a:gsLst>
              <a:gs pos="0">
                <a:srgbClr val="02B896"/>
              </a:gs>
              <a:gs pos="100000">
                <a:srgbClr val="53778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Storage &amp; databases</a:t>
            </a:r>
          </a:p>
        </p:txBody>
      </p:sp>
      <p:sp>
        <p:nvSpPr>
          <p:cNvPr id="12" name="Rounded Rectangle 11"/>
          <p:cNvSpPr/>
          <p:nvPr/>
        </p:nvSpPr>
        <p:spPr>
          <a:xfrm>
            <a:off x="6233007" y="2487168"/>
            <a:ext cx="2432304" cy="548640"/>
          </a:xfrm>
          <a:prstGeom prst="roundRect">
            <a:avLst>
              <a:gd name="adj" fmla="val 50000"/>
            </a:avLst>
          </a:prstGeom>
          <a:gradFill rotWithShape="1">
            <a:gsLst>
              <a:gs pos="0">
                <a:srgbClr val="02B896"/>
              </a:gs>
              <a:gs pos="100000">
                <a:srgbClr val="53778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Networking</a:t>
            </a:r>
          </a:p>
        </p:txBody>
      </p:sp>
      <p:sp>
        <p:nvSpPr>
          <p:cNvPr id="13" name="Rounded Rectangle 12"/>
          <p:cNvSpPr/>
          <p:nvPr/>
        </p:nvSpPr>
        <p:spPr>
          <a:xfrm>
            <a:off x="8939631" y="2487168"/>
            <a:ext cx="2432304" cy="548640"/>
          </a:xfrm>
          <a:prstGeom prst="roundRect">
            <a:avLst>
              <a:gd name="adj" fmla="val 50000"/>
            </a:avLst>
          </a:prstGeom>
          <a:gradFill rotWithShape="1">
            <a:gsLst>
              <a:gs pos="0">
                <a:srgbClr val="02B896"/>
              </a:gs>
              <a:gs pos="100000">
                <a:srgbClr val="53778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Cost</a:t>
            </a:r>
          </a:p>
        </p:txBody>
      </p:sp>
      <p:sp>
        <p:nvSpPr>
          <p:cNvPr id="14" name="Rounded Rectangle 13"/>
          <p:cNvSpPr/>
          <p:nvPr/>
        </p:nvSpPr>
        <p:spPr>
          <a:xfrm>
            <a:off x="819759" y="3145536"/>
            <a:ext cx="2432304" cy="548640"/>
          </a:xfrm>
          <a:prstGeom prst="roundRect">
            <a:avLst>
              <a:gd name="adj" fmla="val 50000"/>
            </a:avLst>
          </a:prstGeom>
          <a:gradFill rotWithShape="1">
            <a:gsLst>
              <a:gs pos="0">
                <a:srgbClr val="02B896"/>
              </a:gs>
              <a:gs pos="100000">
                <a:srgbClr val="53778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Monitoring</a:t>
            </a:r>
          </a:p>
        </p:txBody>
      </p:sp>
      <p:sp>
        <p:nvSpPr>
          <p:cNvPr id="15" name="Rounded Rectangle 14"/>
          <p:cNvSpPr/>
          <p:nvPr/>
        </p:nvSpPr>
        <p:spPr>
          <a:xfrm>
            <a:off x="3526383" y="3145536"/>
            <a:ext cx="2432304" cy="548640"/>
          </a:xfrm>
          <a:prstGeom prst="roundRect">
            <a:avLst>
              <a:gd name="adj" fmla="val 50000"/>
            </a:avLst>
          </a:prstGeom>
          <a:gradFill rotWithShape="1">
            <a:gsLst>
              <a:gs pos="0">
                <a:srgbClr val="02B896"/>
              </a:gs>
              <a:gs pos="100000">
                <a:srgbClr val="53778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Identity &amp; access</a:t>
            </a:r>
          </a:p>
        </p:txBody>
      </p:sp>
      <p:sp>
        <p:nvSpPr>
          <p:cNvPr id="16" name="Rounded Rectangle 15"/>
          <p:cNvSpPr/>
          <p:nvPr/>
        </p:nvSpPr>
        <p:spPr>
          <a:xfrm>
            <a:off x="6233007" y="3145536"/>
            <a:ext cx="2432304" cy="548640"/>
          </a:xfrm>
          <a:prstGeom prst="roundRect">
            <a:avLst>
              <a:gd name="adj" fmla="val 50000"/>
            </a:avLst>
          </a:prstGeom>
          <a:gradFill rotWithShape="1">
            <a:gsLst>
              <a:gs pos="0">
                <a:srgbClr val="02B896"/>
              </a:gs>
              <a:gs pos="100000">
                <a:srgbClr val="53778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Infrastructure as code</a:t>
            </a:r>
          </a:p>
        </p:txBody>
      </p:sp>
      <p:sp>
        <p:nvSpPr>
          <p:cNvPr id="17" name="Rounded Rectangle 16"/>
          <p:cNvSpPr/>
          <p:nvPr/>
        </p:nvSpPr>
        <p:spPr>
          <a:xfrm>
            <a:off x="8939631" y="3145536"/>
            <a:ext cx="2432304" cy="548640"/>
          </a:xfrm>
          <a:prstGeom prst="roundRect">
            <a:avLst>
              <a:gd name="adj" fmla="val 50000"/>
            </a:avLst>
          </a:prstGeom>
          <a:gradFill rotWithShape="1">
            <a:gsLst>
              <a:gs pos="0">
                <a:srgbClr val="02B896"/>
              </a:gs>
              <a:gs pos="100000">
                <a:srgbClr val="53778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Azure AI</a:t>
            </a:r>
          </a:p>
        </p:txBody>
      </p:sp>
      <p:sp>
        <p:nvSpPr>
          <p:cNvPr id="18" name="Rounded Rectangle 17"/>
          <p:cNvSpPr/>
          <p:nvPr/>
        </p:nvSpPr>
        <p:spPr>
          <a:xfrm>
            <a:off x="819759" y="3803904"/>
            <a:ext cx="2432304" cy="548640"/>
          </a:xfrm>
          <a:prstGeom prst="roundRect">
            <a:avLst>
              <a:gd name="adj" fmla="val 50000"/>
            </a:avLst>
          </a:prstGeom>
          <a:gradFill rotWithShape="1">
            <a:gsLst>
              <a:gs pos="0">
                <a:srgbClr val="02B896"/>
              </a:gs>
              <a:gs pos="100000">
                <a:srgbClr val="53778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Web apps</a:t>
            </a:r>
          </a:p>
        </p:txBody>
      </p:sp>
      <p:sp>
        <p:nvSpPr>
          <p:cNvPr id="19" name="Rounded Rectangle 18"/>
          <p:cNvSpPr/>
          <p:nvPr/>
        </p:nvSpPr>
        <p:spPr>
          <a:xfrm>
            <a:off x="3526383" y="3803904"/>
            <a:ext cx="2432304" cy="548640"/>
          </a:xfrm>
          <a:prstGeom prst="roundRect">
            <a:avLst>
              <a:gd name="adj" fmla="val 50000"/>
            </a:avLst>
          </a:prstGeom>
          <a:gradFill rotWithShape="1">
            <a:gsLst>
              <a:gs pos="0">
                <a:srgbClr val="02B896"/>
              </a:gs>
              <a:gs pos="100000">
                <a:srgbClr val="53778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Containers</a:t>
            </a:r>
          </a:p>
        </p:txBody>
      </p:sp>
      <p:sp>
        <p:nvSpPr>
          <p:cNvPr id="20" name="Rounded Rectangle 19"/>
          <p:cNvSpPr/>
          <p:nvPr/>
        </p:nvSpPr>
        <p:spPr>
          <a:xfrm>
            <a:off x="6233007" y="3803904"/>
            <a:ext cx="2432304" cy="548640"/>
          </a:xfrm>
          <a:prstGeom prst="roundRect">
            <a:avLst>
              <a:gd name="adj" fmla="val 50000"/>
            </a:avLst>
          </a:prstGeom>
          <a:gradFill rotWithShape="1">
            <a:gsLst>
              <a:gs pos="0">
                <a:srgbClr val="02B896"/>
              </a:gs>
              <a:gs pos="100000">
                <a:srgbClr val="53778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Serverless</a:t>
            </a:r>
          </a:p>
        </p:txBody>
      </p:sp>
      <p:sp>
        <p:nvSpPr>
          <p:cNvPr id="21" name="Rounded Rectangle 20"/>
          <p:cNvSpPr/>
          <p:nvPr/>
        </p:nvSpPr>
        <p:spPr>
          <a:xfrm>
            <a:off x="8939631" y="3803904"/>
            <a:ext cx="2432304" cy="548640"/>
          </a:xfrm>
          <a:prstGeom prst="roundRect">
            <a:avLst>
              <a:gd name="adj" fmla="val 50000"/>
            </a:avLst>
          </a:prstGeom>
          <a:gradFill rotWithShape="1">
            <a:gsLst>
              <a:gs pos="0">
                <a:srgbClr val="02B896"/>
              </a:gs>
              <a:gs pos="100000">
                <a:srgbClr val="53778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Security posture</a:t>
            </a:r>
          </a:p>
        </p:txBody>
      </p:sp>
      <p:sp>
        <p:nvSpPr>
          <p:cNvPr id="22" name="Rounded Rectangle 21"/>
          <p:cNvSpPr/>
          <p:nvPr/>
        </p:nvSpPr>
        <p:spPr>
          <a:xfrm>
            <a:off x="4879695" y="4462272"/>
            <a:ext cx="2432304" cy="548640"/>
          </a:xfrm>
          <a:prstGeom prst="roundRect">
            <a:avLst>
              <a:gd name="adj" fmla="val 50000"/>
            </a:avLst>
          </a:prstGeom>
          <a:gradFill rotWithShape="1">
            <a:gsLst>
              <a:gs pos="0">
                <a:srgbClr val="02B896"/>
              </a:gs>
              <a:gs pos="100000">
                <a:srgbClr val="53778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12700" bIns="12700"/>
          <a:lstStyle/>
          <a:p>
            <a:pPr algn="ctr"/>
            <a:r>
              <a:rPr sz="1150" b="1" i="0">
                <a:solidFill>
                  <a:srgbClr val="FFFFFF"/>
                </a:solidFill>
                <a:latin typeface="DM Sans"/>
              </a:rPr>
              <a:t>Governance</a:t>
            </a:r>
          </a:p>
        </p:txBody>
      </p:sp>
      <p:sp>
        <p:nvSpPr>
          <p:cNvPr id="23" name="Rounded Rectangle 22"/>
          <p:cNvSpPr/>
          <p:nvPr/>
        </p:nvSpPr>
        <p:spPr>
          <a:xfrm>
            <a:off x="822960" y="5212080"/>
            <a:ext cx="10506456" cy="731520"/>
          </a:xfrm>
          <a:prstGeom prst="roundRect">
            <a:avLst>
              <a:gd name="adj" fmla="val 12000"/>
            </a:avLst>
          </a:prstGeom>
          <a:solidFill>
            <a:srgbClr val="E6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5212080"/>
            <a:ext cx="9866376" cy="731520"/>
          </a:xfrm>
          <a:prstGeom prst="rect">
            <a:avLst/>
          </a:prstGeom>
          <a:noFill/>
        </p:spPr>
        <p:txBody>
          <a:bodyPr wrap="square" anchor="ctr" lIns="0" rIns="0" tIns="0" bIns="0">
            <a:spAutoFit/>
          </a:bodyPr>
          <a:lstStyle/>
          <a:p>
            <a:pPr algn="l">
              <a:spcAft>
                <a:spcPts val="300"/>
              </a:spcAft>
            </a:pPr>
            <a:r>
              <a:rPr sz="1350" b="1" i="0">
                <a:solidFill>
                  <a:srgbClr val="00517E"/>
                </a:solidFill>
                <a:latin typeface="DM Sans"/>
              </a:rPr>
              <a:t>Every area is managed the same way — by asking Claude.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ccent-ligh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46304" cy="6858000"/>
          </a:xfrm>
          <a:prstGeom prst="rect">
            <a:avLst/>
          </a:prstGeom>
          <a:solidFill>
            <a:srgbClr val="02B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058400" cy="320040"/>
          </a:xfrm>
          <a:prstGeom prst="rect">
            <a:avLst/>
          </a:prstGeom>
          <a:noFill/>
        </p:spPr>
        <p:txBody>
          <a:bodyPr wrap="square" anchor="t" lIns="0" rIns="0" tIns="0" bIns="0">
            <a:spAutoFit/>
          </a:bodyPr>
          <a:lstStyle/>
          <a:p>
            <a:pPr algn="l"/>
            <a:r>
              <a:rPr sz="1250" b="1" i="0" spc="180">
                <a:solidFill>
                  <a:srgbClr val="02B896"/>
                </a:solidFill>
                <a:latin typeface="DM Sans"/>
              </a:rPr>
              <a:t>APPENDIX</a:t>
            </a:r>
          </a:p>
        </p:txBody>
      </p:sp>
      <p:sp>
        <p:nvSpPr>
          <p:cNvPr id="5" name="TextBox 4"/>
          <p:cNvSpPr txBox="1"/>
          <p:nvPr/>
        </p:nvSpPr>
        <p:spPr>
          <a:xfrm>
            <a:off x="822960" y="886968"/>
            <a:ext cx="10698480" cy="868680"/>
          </a:xfrm>
          <a:prstGeom prst="rect">
            <a:avLst/>
          </a:prstGeom>
          <a:noFill/>
        </p:spPr>
        <p:txBody>
          <a:bodyPr wrap="square" anchor="t" lIns="0" rIns="0" tIns="0" bIns="0">
            <a:spAutoFit/>
          </a:bodyPr>
          <a:lstStyle/>
          <a:p>
            <a:pPr algn="l"/>
            <a:r>
              <a:rPr sz="3100" b="1" i="0">
                <a:solidFill>
                  <a:srgbClr val="00517E"/>
                </a:solidFill>
                <a:latin typeface="DM Sans"/>
              </a:rPr>
              <a:t>Definitions</a:t>
            </a:r>
          </a:p>
        </p:txBody>
      </p:sp>
      <p:sp>
        <p:nvSpPr>
          <p:cNvPr id="6" name="TextBox 5"/>
          <p:cNvSpPr txBox="1"/>
          <p:nvPr/>
        </p:nvSpPr>
        <p:spPr>
          <a:xfrm>
            <a:off x="822960" y="6428232"/>
            <a:ext cx="6858000" cy="310896"/>
          </a:xfrm>
          <a:prstGeom prst="rect">
            <a:avLst/>
          </a:prstGeom>
          <a:noFill/>
        </p:spPr>
        <p:txBody>
          <a:bodyPr wrap="square" anchor="t" lIns="0" rIns="0" tIns="0" bIns="0">
            <a:spAutoFit/>
          </a:bodyPr>
          <a:lstStyle/>
          <a:p>
            <a:pPr algn="l"/>
            <a:r>
              <a:rPr sz="1200" b="0" i="0">
                <a:solidFill>
                  <a:srgbClr val="888888"/>
                </a:solidFill>
                <a:latin typeface="DM Sans"/>
              </a:rPr>
              <a:t>Manage Azure with Claude Code</a:t>
            </a:r>
          </a:p>
        </p:txBody>
      </p:sp>
      <p:sp>
        <p:nvSpPr>
          <p:cNvPr id="7" name="TextBox 6"/>
          <p:cNvSpPr txBox="1"/>
          <p:nvPr/>
        </p:nvSpPr>
        <p:spPr>
          <a:xfrm>
            <a:off x="7863840" y="6428232"/>
            <a:ext cx="3502152" cy="310896"/>
          </a:xfrm>
          <a:prstGeom prst="rect">
            <a:avLst/>
          </a:prstGeom>
          <a:noFill/>
        </p:spPr>
        <p:txBody>
          <a:bodyPr wrap="square" anchor="t" lIns="0" rIns="0" tIns="0" bIns="0">
            <a:spAutoFit/>
          </a:bodyPr>
          <a:lstStyle/>
          <a:p>
            <a:pPr algn="r"/>
            <a:r>
              <a:rPr sz="1200" b="1" i="0">
                <a:solidFill>
                  <a:srgbClr val="537780"/>
                </a:solidFill>
                <a:latin typeface="DM Sans"/>
              </a:rPr>
              <a:t>Langate   ·   9</a:t>
            </a:r>
          </a:p>
        </p:txBody>
      </p:sp>
      <p:sp>
        <p:nvSpPr>
          <p:cNvPr id="8" name="Rectangle 7"/>
          <p:cNvSpPr/>
          <p:nvPr/>
        </p:nvSpPr>
        <p:spPr>
          <a:xfrm>
            <a:off x="5989320" y="2514600"/>
            <a:ext cx="27432" cy="3108960"/>
          </a:xfrm>
          <a:prstGeom prst="rect">
            <a:avLst/>
          </a:prstGeom>
          <a:gradFill rotWithShape="1">
            <a:gsLst>
              <a:gs pos="0">
                <a:srgbClr val="02B896"/>
              </a:gs>
              <a:gs pos="100000">
                <a:srgbClr val="00517E"/>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395728"/>
            <a:ext cx="4937760" cy="3474720"/>
          </a:xfrm>
          <a:prstGeom prst="rect">
            <a:avLst/>
          </a:prstGeom>
          <a:noFill/>
        </p:spPr>
        <p:txBody>
          <a:bodyPr wrap="square" anchor="ctr" lIns="0" rIns="0" tIns="0" bIns="0">
            <a:spAutoFit/>
          </a:bodyPr>
          <a:lstStyle/>
          <a:p>
            <a:pPr algn="l">
              <a:spcAft>
                <a:spcPts val="1500"/>
              </a:spcAft>
            </a:pPr>
            <a:r>
              <a:rPr sz="1350" b="1" i="0">
                <a:solidFill>
                  <a:srgbClr val="00517E"/>
                </a:solidFill>
                <a:latin typeface="DM Sans"/>
              </a:rPr>
              <a:t>Bicep</a:t>
            </a:r>
            <a:r>
              <a:rPr sz="1350" b="0" i="0">
                <a:solidFill>
                  <a:srgbClr val="4A4A4A"/>
                </a:solidFill>
                <a:latin typeface="DM Sans"/>
              </a:rPr>
              <a:t>  —  Microsoft-native infrastructure as code</a:t>
            </a:r>
          </a:p>
          <a:p>
            <a:pPr algn="l">
              <a:spcAft>
                <a:spcPts val="1500"/>
              </a:spcAft>
            </a:pPr>
            <a:r>
              <a:rPr sz="1350" b="1" i="0">
                <a:solidFill>
                  <a:srgbClr val="00517E"/>
                </a:solidFill>
                <a:latin typeface="DM Sans"/>
              </a:rPr>
              <a:t>Azure CLI (az)</a:t>
            </a:r>
            <a:r>
              <a:rPr sz="1350" b="0" i="0">
                <a:solidFill>
                  <a:srgbClr val="4A4A4A"/>
                </a:solidFill>
                <a:latin typeface="DM Sans"/>
              </a:rPr>
              <a:t>  —  cross-platform Azure command line</a:t>
            </a:r>
          </a:p>
          <a:p>
            <a:pPr algn="l">
              <a:spcAft>
                <a:spcPts val="1500"/>
              </a:spcAft>
            </a:pPr>
            <a:r>
              <a:rPr sz="1350" b="1" i="0">
                <a:solidFill>
                  <a:srgbClr val="00517E"/>
                </a:solidFill>
                <a:latin typeface="DM Sans"/>
              </a:rPr>
              <a:t>MCP</a:t>
            </a:r>
            <a:r>
              <a:rPr sz="1350" b="0" i="0">
                <a:solidFill>
                  <a:srgbClr val="4A4A4A"/>
                </a:solidFill>
                <a:latin typeface="DM Sans"/>
              </a:rPr>
              <a:t>  —  lets an AI use external tools via a server</a:t>
            </a:r>
          </a:p>
          <a:p>
            <a:pPr algn="l">
              <a:spcAft>
                <a:spcPts val="1500"/>
              </a:spcAft>
            </a:pPr>
            <a:r>
              <a:rPr sz="1350" b="1" i="0">
                <a:solidFill>
                  <a:srgbClr val="00517E"/>
                </a:solidFill>
                <a:latin typeface="DM Sans"/>
              </a:rPr>
              <a:t>CLAUDE.md</a:t>
            </a:r>
            <a:r>
              <a:rPr sz="1350" b="0" i="0">
                <a:solidFill>
                  <a:srgbClr val="4A4A4A"/>
                </a:solidFill>
                <a:latin typeface="DM Sans"/>
              </a:rPr>
              <a:t>  —  the memory file Claude reads each session</a:t>
            </a:r>
          </a:p>
        </p:txBody>
      </p:sp>
      <p:sp>
        <p:nvSpPr>
          <p:cNvPr id="10" name="TextBox 9"/>
          <p:cNvSpPr txBox="1"/>
          <p:nvPr/>
        </p:nvSpPr>
        <p:spPr>
          <a:xfrm>
            <a:off x="6355080" y="2395728"/>
            <a:ext cx="4937760" cy="3474720"/>
          </a:xfrm>
          <a:prstGeom prst="rect">
            <a:avLst/>
          </a:prstGeom>
          <a:noFill/>
        </p:spPr>
        <p:txBody>
          <a:bodyPr wrap="square" anchor="ctr" lIns="0" rIns="0" tIns="0" bIns="0">
            <a:spAutoFit/>
          </a:bodyPr>
          <a:lstStyle/>
          <a:p>
            <a:pPr algn="l">
              <a:spcAft>
                <a:spcPts val="1500"/>
              </a:spcAft>
            </a:pPr>
            <a:r>
              <a:rPr sz="1350" b="1" i="0">
                <a:solidFill>
                  <a:srgbClr val="00517E"/>
                </a:solidFill>
                <a:latin typeface="DM Sans"/>
              </a:rPr>
              <a:t>RBAC</a:t>
            </a:r>
            <a:r>
              <a:rPr sz="1350" b="0" i="0">
                <a:solidFill>
                  <a:srgbClr val="4A4A4A"/>
                </a:solidFill>
                <a:latin typeface="DM Sans"/>
              </a:rPr>
              <a:t>  —  role-based access control in Azure</a:t>
            </a:r>
          </a:p>
          <a:p>
            <a:pPr algn="l">
              <a:spcAft>
                <a:spcPts val="1500"/>
              </a:spcAft>
            </a:pPr>
            <a:r>
              <a:rPr sz="1350" b="1" i="0">
                <a:solidFill>
                  <a:srgbClr val="00517E"/>
                </a:solidFill>
                <a:latin typeface="DM Sans"/>
              </a:rPr>
              <a:t>Playwright</a:t>
            </a:r>
            <a:r>
              <a:rPr sz="1350" b="0" i="0">
                <a:solidFill>
                  <a:srgbClr val="4A4A4A"/>
                </a:solidFill>
                <a:latin typeface="DM Sans"/>
              </a:rPr>
              <a:t>  —  Microsoft's browser end-to-end testing tool</a:t>
            </a:r>
          </a:p>
          <a:p>
            <a:pPr algn="l">
              <a:spcAft>
                <a:spcPts val="1500"/>
              </a:spcAft>
            </a:pPr>
            <a:r>
              <a:rPr sz="1350" b="1" i="0">
                <a:solidFill>
                  <a:srgbClr val="00517E"/>
                </a:solidFill>
                <a:latin typeface="DM Sans"/>
              </a:rPr>
              <a:t>Skill</a:t>
            </a:r>
            <a:r>
              <a:rPr sz="1350" b="0" i="0">
                <a:solidFill>
                  <a:srgbClr val="4A4A4A"/>
                </a:solidFill>
                <a:latin typeface="DM Sans"/>
              </a:rPr>
              <a:t>  —  a saved, reusable instruction for Claude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